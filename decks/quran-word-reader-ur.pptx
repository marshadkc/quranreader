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"/>
          <p:cNvSpPr/>
          <p:nvPr/>
        </p:nvSpPr>
        <p:spPr>
          <a:xfrm>
            <a:off x="10916655" y="502920"/>
            <a:ext cx="634959" cy="56692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"/>
          <p:cNvSpPr/>
          <p:nvPr/>
        </p:nvSpPr>
        <p:spPr>
          <a:xfrm>
            <a:off x="10340583" y="822960"/>
            <a:ext cx="634959" cy="566928"/>
          </a:xfrm>
          <a:prstGeom prst="hexagon">
            <a:avLst/>
          </a:prstGeom>
          <a:solidFill>
            <a:srgbClr val="E9D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"/>
          <p:cNvSpPr/>
          <p:nvPr/>
        </p:nvSpPr>
        <p:spPr>
          <a:xfrm>
            <a:off x="10340583" y="182880"/>
            <a:ext cx="634959" cy="56692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pp name"/>
          <p:cNvSpPr txBox="1"/>
          <p:nvPr/>
        </p:nvSpPr>
        <p:spPr>
          <a:xfrm>
            <a:off x="6065215" y="17373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lang="en-US">
                <a:solidFill>
                  <a:srgbClr val="E9A227"/>
                </a:solidFill>
                <a:latin typeface="Arial"/>
                <a:cs typeface="Arial"/>
              </a:rPr>
              <a:t>Quran Word Reader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065215" y="2286000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800" b="1" lang="ur-PK">
                <a:solidFill>
                  <a:srgbClr val="FFFFFF"/>
                </a:solidFill>
                <a:latin typeface="Arial"/>
                <a:cs typeface="Arial"/>
              </a:rPr>
              <a:t>قرآن کو اس کے اپنے الفاظ میں سمجھیں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248095" y="43434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0" lang="ur-PK">
                <a:solidFill>
                  <a:srgbClr val="9FCFC3"/>
                </a:solidFill>
                <a:latin typeface="Arial"/>
                <a:cs typeface="Arial"/>
              </a:rPr>
              <a:t>ہر عربی لفظ کا معنی سیکھیں، اور قرآن کو بغیر ترجمے کے پڑھیں۔</a:t>
            </a:r>
          </a:p>
        </p:txBody>
      </p:sp>
      <p:sp>
        <p:nvSpPr>
          <p:cNvPr id="8" name="Link"/>
          <p:cNvSpPr/>
          <p:nvPr/>
        </p:nvSpPr>
        <p:spPr>
          <a:xfrm>
            <a:off x="6979615" y="53492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9" name="Badges"/>
          <p:cNvSpPr txBox="1"/>
          <p:nvPr/>
        </p:nvSpPr>
        <p:spPr>
          <a:xfrm>
            <a:off x="6065215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300" b="0" lang="ur-PK">
                <a:solidFill>
                  <a:srgbClr val="9FCFC3"/>
                </a:solidFill>
                <a:latin typeface="Arial"/>
                <a:cs typeface="Arial"/>
              </a:rPr>
              <a:t>مفت  ·  کوئی اشتہار نہیں  ·  </a:t>
            </a:r>
            <a:r>
              <a:rPr sz="1300" b="0" lang="en-US">
                <a:solidFill>
                  <a:srgbClr val="9FCFC3"/>
                </a:solidFill>
                <a:latin typeface="Arial"/>
                <a:cs typeface="Arial"/>
              </a:rPr>
              <a:t>English · </a:t>
            </a:r>
            <a:r>
              <a:rPr sz="1300" b="0" lang="ur-PK">
                <a:solidFill>
                  <a:srgbClr val="9FCFC3"/>
                </a:solidFill>
                <a:latin typeface="Arial"/>
                <a:cs typeface="Arial"/>
              </a:rPr>
              <a:t>اردو · </a:t>
            </a:r>
            <a:r>
              <a:rPr sz="1300" b="0" lang="hi-IN">
                <a:solidFill>
                  <a:srgbClr val="9FCFC3"/>
                </a:solidFill>
                <a:latin typeface="Arial"/>
                <a:cs typeface="Nirmala UI"/>
              </a:rPr>
              <a:t>हिंदी</a:t>
            </a:r>
          </a:p>
        </p:txBody>
      </p:sp>
      <p:sp>
        <p:nvSpPr>
          <p:cNvPr id="10" name="Phone shadow"/>
          <p:cNvSpPr/>
          <p:nvPr/>
        </p:nvSpPr>
        <p:spPr>
          <a:xfrm>
            <a:off x="3541471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335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Phone shadow"/>
          <p:cNvSpPr/>
          <p:nvPr/>
        </p:nvSpPr>
        <p:spPr>
          <a:xfrm>
            <a:off x="249631" y="1216152"/>
            <a:ext cx="2331720" cy="461560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honey" descr="h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" y="1143000"/>
            <a:ext cx="2331720" cy="461560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Phone shadow"/>
          <p:cNvSpPr/>
          <p:nvPr/>
        </p:nvSpPr>
        <p:spPr>
          <a:xfrm>
            <a:off x="1712671" y="484632"/>
            <a:ext cx="2697480" cy="5339627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fade" descr="fa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535" y="411480"/>
            <a:ext cx="2697480" cy="5339627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15081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 lang="ur-PK">
                <a:solidFill>
                  <a:srgbClr val="E9A227"/>
                </a:solidFill>
                <a:latin typeface="Arial"/>
                <a:cs typeface="Arial"/>
              </a:rPr>
              <a:t>کیوں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876495" y="1234440"/>
            <a:ext cx="6675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8000"/>
              </a:lnSpc>
            </a:pPr>
            <a:r>
              <a:rPr sz="4000" b="1" lang="ur-PK">
                <a:solidFill>
                  <a:srgbClr val="FFFFFF"/>
                </a:solidFill>
                <a:latin typeface="Arial"/>
                <a:cs typeface="Arial"/>
              </a:rPr>
              <a:t>آپ روز تلاوت کرتے ہیں۔ اب ہر لفظ سمجھیں۔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150815" y="406908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0" lang="ur-PK">
                <a:solidFill>
                  <a:srgbClr val="9FCFC3"/>
                </a:solidFill>
                <a:latin typeface="Arial"/>
                <a:cs typeface="Arial"/>
              </a:rPr>
              <a:t>ہم میں سے اکثر قرآن عربی میں پڑھتے ہیں مگر اسے صرف ترجمے کے ذریعے سمجھتے ہیں۔ </a:t>
            </a:r>
            <a:r>
              <a:rPr sz="1900" b="0" lang="en-US">
                <a:solidFill>
                  <a:srgbClr val="9FCFC3"/>
                </a:solidFill>
                <a:latin typeface="Arial"/>
                <a:cs typeface="Arial"/>
              </a:rPr>
              <a:t>Quran Word Reader </a:t>
            </a:r>
            <a:r>
              <a:rPr sz="1900" b="0" lang="ur-PK">
                <a:solidFill>
                  <a:srgbClr val="9FCFC3"/>
                </a:solidFill>
                <a:latin typeface="Arial"/>
                <a:cs typeface="Arial"/>
              </a:rPr>
              <a:t>خود الفاظ سکھاتی ہے، تاکہ عربی صفحہ آپ سے براہِ راست بات کرے۔</a:t>
            </a:r>
          </a:p>
        </p:txBody>
      </p:sp>
      <p:sp>
        <p:nvSpPr>
          <p:cNvPr id="5" name="Phone shadow"/>
          <p:cNvSpPr/>
          <p:nvPr/>
        </p:nvSpPr>
        <p:spPr>
          <a:xfrm>
            <a:off x="752551" y="576072"/>
            <a:ext cx="2880360" cy="5701635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creenshot none" descr="n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" y="502920"/>
            <a:ext cx="2880360" cy="5701635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7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15975" y="566928"/>
            <a:ext cx="10149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خیال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70255" y="1207008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ترجمے کو آہستہ آہستہ غائب ہوتے دیکھیں</a:t>
            </a:r>
          </a:p>
        </p:txBody>
      </p:sp>
      <p:sp>
        <p:nvSpPr>
          <p:cNvPr id="5" name="Stage"/>
          <p:cNvSpPr txBox="1"/>
          <p:nvPr/>
        </p:nvSpPr>
        <p:spPr>
          <a:xfrm>
            <a:off x="8468715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lang="ur-PK">
                <a:solidFill>
                  <a:srgbClr val="B8740F"/>
                </a:solidFill>
                <a:latin typeface="Arial"/>
                <a:cs typeface="Arial"/>
              </a:rPr>
              <a:t>آغاز</a:t>
            </a:r>
          </a:p>
          <a:p>
            <a:pPr algn="ctr" rtl="1">
              <a:lnSpc>
                <a:spcPct val="100000"/>
              </a:lnSpc>
            </a:pPr>
            <a:r>
              <a:rPr sz="1500" b="0" lang="ur-PK">
                <a:solidFill>
                  <a:srgbClr val="15302E"/>
                </a:solidFill>
                <a:latin typeface="Arial"/>
                <a:cs typeface="Arial"/>
              </a:rPr>
              <a:t>ہر لفظ کے نیچے اس کا معنی</a:t>
            </a:r>
          </a:p>
        </p:txBody>
      </p:sp>
      <p:sp>
        <p:nvSpPr>
          <p:cNvPr id="6" name="Phone shadow"/>
          <p:cNvSpPr/>
          <p:nvPr/>
        </p:nvSpPr>
        <p:spPr>
          <a:xfrm>
            <a:off x="8779611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ہر لفظ کے نیچے اس کا معن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475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Arrow"/>
          <p:cNvSpPr/>
          <p:nvPr/>
        </p:nvSpPr>
        <p:spPr>
          <a:xfrm rot="10800000">
            <a:off x="7819491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ge"/>
          <p:cNvSpPr txBox="1"/>
          <p:nvPr/>
        </p:nvSpPr>
        <p:spPr>
          <a:xfrm>
            <a:off x="4472787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lang="ur-PK">
                <a:solidFill>
                  <a:srgbClr val="B8740F"/>
                </a:solidFill>
                <a:latin typeface="Arial"/>
                <a:cs typeface="Arial"/>
              </a:rPr>
              <a:t>سیکھتے ہوئے</a:t>
            </a:r>
          </a:p>
          <a:p>
            <a:pPr algn="ctr" rtl="1">
              <a:lnSpc>
                <a:spcPct val="100000"/>
              </a:lnSpc>
            </a:pPr>
            <a:r>
              <a:rPr sz="1500" b="0" lang="ur-PK">
                <a:solidFill>
                  <a:srgbClr val="15302E"/>
                </a:solidFill>
                <a:latin typeface="Arial"/>
                <a:cs typeface="Arial"/>
              </a:rPr>
              <a:t>جو لفظ سیکھ لیا، اس کا معنی مدھم</a:t>
            </a:r>
          </a:p>
        </p:txBody>
      </p:sp>
      <p:sp>
        <p:nvSpPr>
          <p:cNvPr id="10" name="Phone shadow"/>
          <p:cNvSpPr/>
          <p:nvPr/>
        </p:nvSpPr>
        <p:spPr>
          <a:xfrm>
            <a:off x="4783683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ade" descr="جو لفظ سیکھ لیا، اس کا معنی مدھ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47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Arrow"/>
          <p:cNvSpPr/>
          <p:nvPr/>
        </p:nvSpPr>
        <p:spPr>
          <a:xfrm rot="10800000">
            <a:off x="3823563" y="4114800"/>
            <a:ext cx="548640" cy="685800"/>
          </a:xfrm>
          <a:prstGeom prst="chevr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ge"/>
          <p:cNvSpPr txBox="1"/>
          <p:nvPr/>
        </p:nvSpPr>
        <p:spPr>
          <a:xfrm>
            <a:off x="476859" y="1920240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/>
            <a:r>
              <a:rPr sz="1500" b="1" lang="ur-PK">
                <a:solidFill>
                  <a:srgbClr val="B8740F"/>
                </a:solidFill>
                <a:latin typeface="Arial"/>
                <a:cs typeface="Arial"/>
              </a:rPr>
              <a:t>منزل</a:t>
            </a:r>
          </a:p>
          <a:p>
            <a:pPr algn="ctr" rtl="1">
              <a:lnSpc>
                <a:spcPct val="100000"/>
              </a:lnSpc>
            </a:pPr>
            <a:r>
              <a:rPr sz="1500" b="0" lang="ur-PK">
                <a:solidFill>
                  <a:srgbClr val="15302E"/>
                </a:solidFill>
                <a:latin typeface="Arial"/>
                <a:cs typeface="Arial"/>
              </a:rPr>
              <a:t>صرف عربی، اور آپ سمجھ رہے ہیں</a:t>
            </a:r>
          </a:p>
        </p:txBody>
      </p:sp>
      <p:sp>
        <p:nvSpPr>
          <p:cNvPr id="14" name="Phone shadow"/>
          <p:cNvSpPr/>
          <p:nvPr/>
        </p:nvSpPr>
        <p:spPr>
          <a:xfrm>
            <a:off x="787755" y="2770632"/>
            <a:ext cx="2514600" cy="352043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creenshot none" descr="صرف عربی، اور آپ سمجھ رہے ہی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" y="2697480"/>
            <a:ext cx="2514600" cy="352043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6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099255" y="566928"/>
            <a:ext cx="67665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ایک نظر میں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053535" y="1207008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پورا قرآن، لفظ بہ لفظ</a:t>
            </a:r>
          </a:p>
        </p:txBody>
      </p:sp>
      <p:sp>
        <p:nvSpPr>
          <p:cNvPr id="5" name="Stat 1"/>
          <p:cNvSpPr/>
          <p:nvPr/>
        </p:nvSpPr>
        <p:spPr>
          <a:xfrm>
            <a:off x="7939735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number"/>
          <p:cNvSpPr txBox="1"/>
          <p:nvPr/>
        </p:nvSpPr>
        <p:spPr>
          <a:xfrm>
            <a:off x="8214055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4400" b="1" lang="en-US">
                <a:solidFill>
                  <a:srgbClr val="B8740F"/>
                </a:solidFill>
                <a:latin typeface="Arial"/>
                <a:cs typeface="Arial"/>
              </a:rPr>
              <a:t>114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8214055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50" b="0" lang="ur-PK">
                <a:solidFill>
                  <a:srgbClr val="15302E"/>
                </a:solidFill>
                <a:latin typeface="Arial"/>
                <a:cs typeface="Arial"/>
              </a:rPr>
              <a:t>سورتیں: پورا قرآن، الفاتحہ سے الناس تک</a:t>
            </a:r>
          </a:p>
        </p:txBody>
      </p:sp>
      <p:sp>
        <p:nvSpPr>
          <p:cNvPr id="8" name="Stat 2"/>
          <p:cNvSpPr/>
          <p:nvPr/>
        </p:nvSpPr>
        <p:spPr>
          <a:xfrm>
            <a:off x="4053535" y="23317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 number"/>
          <p:cNvSpPr txBox="1"/>
          <p:nvPr/>
        </p:nvSpPr>
        <p:spPr>
          <a:xfrm>
            <a:off x="4327855" y="2514600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4400" b="1" lang="en-US">
                <a:solidFill>
                  <a:srgbClr val="B8740F"/>
                </a:solidFill>
                <a:latin typeface="Arial"/>
                <a:cs typeface="Arial"/>
              </a:rPr>
              <a:t>77,429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4327855" y="3310128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50" b="0" lang="ur-PK">
                <a:solidFill>
                  <a:srgbClr val="15302E"/>
                </a:solidFill>
                <a:latin typeface="Arial"/>
                <a:cs typeface="Arial"/>
              </a:rPr>
              <a:t>الفاظ، ہر ایک اپنے معنی کے ساتھ</a:t>
            </a:r>
          </a:p>
        </p:txBody>
      </p:sp>
      <p:sp>
        <p:nvSpPr>
          <p:cNvPr id="11" name="Stat 3"/>
          <p:cNvSpPr/>
          <p:nvPr/>
        </p:nvSpPr>
        <p:spPr>
          <a:xfrm>
            <a:off x="7939735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 number"/>
          <p:cNvSpPr txBox="1"/>
          <p:nvPr/>
        </p:nvSpPr>
        <p:spPr>
          <a:xfrm>
            <a:off x="8214055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4400" b="1" lang="en-US">
                <a:solidFill>
                  <a:srgbClr val="1F6F62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8214055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50" b="0" lang="ur-PK">
                <a:solidFill>
                  <a:srgbClr val="15302E"/>
                </a:solidFill>
                <a:latin typeface="Arial"/>
                <a:cs typeface="Arial"/>
              </a:rPr>
              <a:t>کلاسیکی عربی لغات، ہر مادے کے معنی کے لیے</a:t>
            </a:r>
          </a:p>
        </p:txBody>
      </p:sp>
      <p:sp>
        <p:nvSpPr>
          <p:cNvPr id="14" name="Stat 4"/>
          <p:cNvSpPr/>
          <p:nvPr/>
        </p:nvSpPr>
        <p:spPr>
          <a:xfrm>
            <a:off x="4053535" y="4279392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number"/>
          <p:cNvSpPr txBox="1"/>
          <p:nvPr/>
        </p:nvSpPr>
        <p:spPr>
          <a:xfrm>
            <a:off x="4327855" y="4462272"/>
            <a:ext cx="3063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4400" b="1" lang="en-US">
                <a:solidFill>
                  <a:srgbClr val="1F6F62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4327855" y="5257800"/>
            <a:ext cx="30632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50" b="0" lang="ur-PK">
                <a:solidFill>
                  <a:srgbClr val="15302E"/>
                </a:solidFill>
                <a:latin typeface="Arial"/>
                <a:cs typeface="Arial"/>
              </a:rPr>
              <a:t>زبانیں: </a:t>
            </a:r>
            <a:r>
              <a:rPr sz="1450" b="0" lang="en-US">
                <a:solidFill>
                  <a:srgbClr val="15302E"/>
                </a:solidFill>
                <a:latin typeface="Arial"/>
                <a:cs typeface="Arial"/>
              </a:rPr>
              <a:t>English</a:t>
            </a:r>
            <a:r>
              <a:rPr sz="1450" b="0" lang="ur-PK">
                <a:solidFill>
                  <a:srgbClr val="15302E"/>
                </a:solidFill>
                <a:latin typeface="Arial"/>
                <a:cs typeface="Arial"/>
              </a:rPr>
              <a:t>، اردو اور </a:t>
            </a:r>
            <a:r>
              <a:rPr sz="1450" b="0" lang="hi-IN">
                <a:solidFill>
                  <a:srgbClr val="15302E"/>
                </a:solidFill>
                <a:latin typeface="Arial"/>
                <a:cs typeface="Nirmala UI"/>
              </a:rPr>
              <a:t>हिंदी</a:t>
            </a:r>
          </a:p>
        </p:txBody>
      </p:sp>
      <p:sp>
        <p:nvSpPr>
          <p:cNvPr id="17" name="Note"/>
          <p:cNvSpPr txBox="1"/>
          <p:nvPr/>
        </p:nvSpPr>
        <p:spPr>
          <a:xfrm>
            <a:off x="4053535" y="605332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50" b="0" lang="ur-PK">
                <a:solidFill>
                  <a:srgbClr val="5D716E"/>
                </a:solidFill>
                <a:latin typeface="Arial"/>
                <a:cs typeface="Arial"/>
              </a:rPr>
              <a:t>مفت، بغیر کسی اشتہار یا سائن اپ کے۔</a:t>
            </a:r>
          </a:p>
        </p:txBody>
      </p:sp>
      <p:sp>
        <p:nvSpPr>
          <p:cNvPr id="18" name="Phone shadow"/>
          <p:cNvSpPr/>
          <p:nvPr/>
        </p:nvSpPr>
        <p:spPr>
          <a:xfrm>
            <a:off x="661111" y="576072"/>
            <a:ext cx="2743200" cy="543012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creenshot progress" descr="pro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" y="502920"/>
            <a:ext cx="2743200" cy="543012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2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081735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طریقہ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36015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روزانہ کی ایک آسان عادت</a:t>
            </a:r>
          </a:p>
        </p:txBody>
      </p:sp>
      <p:sp>
        <p:nvSpPr>
          <p:cNvPr id="5" name="Step 1"/>
          <p:cNvSpPr/>
          <p:nvPr/>
        </p:nvSpPr>
        <p:spPr>
          <a:xfrm>
            <a:off x="8122615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number"/>
          <p:cNvSpPr/>
          <p:nvPr/>
        </p:nvSpPr>
        <p:spPr>
          <a:xfrm>
            <a:off x="10759744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8351215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روزانہ 3، 5 یا 10 آیات لیں۔</a:t>
            </a:r>
          </a:p>
        </p:txBody>
      </p:sp>
      <p:sp>
        <p:nvSpPr>
          <p:cNvPr id="8" name="Step 2"/>
          <p:cNvSpPr/>
          <p:nvPr/>
        </p:nvSpPr>
        <p:spPr>
          <a:xfrm>
            <a:off x="4446727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number"/>
          <p:cNvSpPr/>
          <p:nvPr/>
        </p:nvSpPr>
        <p:spPr>
          <a:xfrm>
            <a:off x="7083856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Step text"/>
          <p:cNvSpPr txBox="1"/>
          <p:nvPr/>
        </p:nvSpPr>
        <p:spPr>
          <a:xfrm>
            <a:off x="4675327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ہر لفظ بلند آواز سے پڑھیں، پھر اس کا معنی۔</a:t>
            </a:r>
          </a:p>
        </p:txBody>
      </p:sp>
      <p:sp>
        <p:nvSpPr>
          <p:cNvPr id="11" name="Step 3"/>
          <p:cNvSpPr/>
          <p:nvPr/>
        </p:nvSpPr>
        <p:spPr>
          <a:xfrm>
            <a:off x="770839" y="23317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 number"/>
          <p:cNvSpPr/>
          <p:nvPr/>
        </p:nvSpPr>
        <p:spPr>
          <a:xfrm>
            <a:off x="3407968" y="25877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Step text"/>
          <p:cNvSpPr txBox="1"/>
          <p:nvPr/>
        </p:nvSpPr>
        <p:spPr>
          <a:xfrm>
            <a:off x="999439" y="32004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اس حصے کو 7 بار دہرائیں۔</a:t>
            </a:r>
          </a:p>
        </p:txBody>
      </p:sp>
      <p:sp>
        <p:nvSpPr>
          <p:cNvPr id="14" name="Step 4"/>
          <p:cNvSpPr/>
          <p:nvPr/>
        </p:nvSpPr>
        <p:spPr>
          <a:xfrm>
            <a:off x="8122615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number"/>
          <p:cNvSpPr/>
          <p:nvPr/>
        </p:nvSpPr>
        <p:spPr>
          <a:xfrm>
            <a:off x="10759744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Step text"/>
          <p:cNvSpPr txBox="1"/>
          <p:nvPr/>
        </p:nvSpPr>
        <p:spPr>
          <a:xfrm>
            <a:off x="8351215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معانی چھپائیں (</a:t>
            </a:r>
            <a:r>
              <a:rPr sz="1700" b="0" lang="en-US">
                <a:solidFill>
                  <a:srgbClr val="15302E"/>
                </a:solidFill>
                <a:latin typeface="Arial"/>
                <a:cs typeface="Arial"/>
              </a:rPr>
              <a:t>None) </a:t>
            </a: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اور دوبارہ پڑھیں۔</a:t>
            </a:r>
          </a:p>
        </p:txBody>
      </p:sp>
      <p:sp>
        <p:nvSpPr>
          <p:cNvPr id="17" name="Step 5"/>
          <p:cNvSpPr/>
          <p:nvPr/>
        </p:nvSpPr>
        <p:spPr>
          <a:xfrm>
            <a:off x="4446727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number"/>
          <p:cNvSpPr/>
          <p:nvPr/>
        </p:nvSpPr>
        <p:spPr>
          <a:xfrm>
            <a:off x="7083856" y="4416552"/>
            <a:ext cx="563270" cy="502920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9" name="Step text"/>
          <p:cNvSpPr txBox="1"/>
          <p:nvPr/>
        </p:nvSpPr>
        <p:spPr>
          <a:xfrm>
            <a:off x="4675327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ایک مختصر کوئز سے مشق کریں۔</a:t>
            </a:r>
          </a:p>
        </p:txBody>
      </p:sp>
      <p:sp>
        <p:nvSpPr>
          <p:cNvPr id="20" name="Step 6"/>
          <p:cNvSpPr/>
          <p:nvPr/>
        </p:nvSpPr>
        <p:spPr>
          <a:xfrm>
            <a:off x="770839" y="41605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number"/>
          <p:cNvSpPr/>
          <p:nvPr/>
        </p:nvSpPr>
        <p:spPr>
          <a:xfrm>
            <a:off x="3407968" y="4416552"/>
            <a:ext cx="563270" cy="502920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en-US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2" name="Step text"/>
          <p:cNvSpPr txBox="1"/>
          <p:nvPr/>
        </p:nvSpPr>
        <p:spPr>
          <a:xfrm>
            <a:off x="999439" y="50292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700" b="0" lang="ur-PK">
                <a:solidFill>
                  <a:srgbClr val="15302E"/>
                </a:solidFill>
                <a:latin typeface="Arial"/>
                <a:cs typeface="Arial"/>
              </a:rPr>
              <a:t>بغیر ترجمے کا مصحف ہاتھ میں لے کر پڑھیں۔</a:t>
            </a:r>
          </a:p>
        </p:txBody>
      </p:sp>
      <p:sp>
        <p:nvSpPr>
          <p:cNvPr id="23" name="Closing line"/>
          <p:cNvSpPr txBox="1"/>
          <p:nvPr/>
        </p:nvSpPr>
        <p:spPr>
          <a:xfrm>
            <a:off x="670255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500" b="1" lang="ur-PK">
                <a:solidFill>
                  <a:srgbClr val="1F6F62"/>
                </a:solidFill>
                <a:latin typeface="Arial"/>
                <a:cs typeface="Arial"/>
              </a:rPr>
              <a:t>اسی طرح پوری سورت، اور پھر پورا قرآن مکمل کریں۔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ریڈر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ہر لفظ کے نیچے اس کا معنی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کوئی بھی سورت لفظ بہ لفظ پڑھیں: انگریزی، اردو یا ہندی میں۔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ایک یا دو زبانیں، اور نیچے آیت کا مکمل ترجمہ۔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جو لفظ سیکھ لیں، اس کا معنی مدھم ہو جاتا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امتحان کے لیے </a:t>
            </a:r>
            <a:r>
              <a:rPr sz="1600" b="0" lang="en-US">
                <a:solidFill>
                  <a:srgbClr val="15302E"/>
                </a:solidFill>
                <a:latin typeface="Arial"/>
                <a:cs typeface="Arial"/>
              </a:rPr>
              <a:t>None </a:t>
            </a: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دبائیں، اور ضرورت ہو تو لفظ پر ٹیپ کریں۔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reader" descr="r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ade" descr="f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ورڈ کارڈ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ہر لفظ کھل کر سامنے آتا ہے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لفظ پر ٹیپ کریں اور دیکھیں کہ وہ کیسے بنا ہے اور اس کے مادے کا معنی کیا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اس کے حصے رنگوں میں: وَ، فَ، ٱل اور لاحقے۔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مادے کا معنی عربی کی 7 کلاسیکی لغات سے۔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لفظ کی صورتیں: فعل کیسے بدلتا ہے، قرآن میں آنے والی صورتیں نمایاں۔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card" descr="c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forms" descr="for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تلاش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پورا قرآن آپ کی انگلیوں پر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کوئی بھی آیت، یا ہر وہ جگہ جہاں کوئی لفظ یا اس کا مادہ آیا ہو۔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2:255 لکھیں اور سیدھے آیت الکرسی پر پہنچیں۔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رحمة: 313 آیات میں 339 بار، ہر صورت اور ہجے کے ساتھ۔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کوئی بھی نتیجہ اس کی سورت میں یا مصحف کے صفحے پر کھولیں۔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search" descr="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esults" descr="resul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ترقی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دیکھیں آپ کتنا آگے آ گئے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آیات کی مشق کریں اور قرآن میں اپنا حصہ بڑھتا دیکھیں۔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ہر لفظ کا معنی چنیں۔ غلط جواب آخر میں دوبارہ آتے ہیں۔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3 صحیح جواب، اور لفظ آپ کا، قرآن میں جہاں بھی آئے۔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ہر سورت کی، اور پورے قرآن کی پیش رفت۔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quiz" descr="qui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progress" descr="progr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253935" y="566928"/>
            <a:ext cx="3611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کھیل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208215" y="1207008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سیکھنا جو کھیل جیسا لگے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7208215" y="2514600"/>
            <a:ext cx="4343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تین کوئز اور شہد کا مرتبان آپ کو بار بار واپس لاتے ہیں۔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شہد کا چھتا: آیت کے الفاظ کا جواب دے کر چھتا پار کریں۔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Arial"/>
                <a:cs typeface="Arial"/>
              </a:rPr>
              <a:t>Root challenge: </a:t>
            </a: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ہر لفظ کا مادہ اور اس کا گہرا معنی تلاش کریں۔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en-US">
                <a:solidFill>
                  <a:srgbClr val="15302E"/>
                </a:solidFill>
                <a:latin typeface="Arial"/>
                <a:cs typeface="Arial"/>
              </a:rPr>
              <a:t>Form Switch: </a:t>
            </a: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فعل یا اسم کو دوسری صورت میں بدلیں۔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4775911" y="94183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oney" descr="hon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75" y="86868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2553919" y="57607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rootq" descr="root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783" y="50292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Phone shadow"/>
          <p:cNvSpPr/>
          <p:nvPr/>
        </p:nvSpPr>
        <p:spPr>
          <a:xfrm>
            <a:off x="331927" y="1307592"/>
            <a:ext cx="2103120" cy="416309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formq" descr="form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" y="1234440"/>
            <a:ext cx="2103120" cy="416309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2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116775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کلاس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071055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کلاس روم کے لیے بنائی گئی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7071055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کلاس کی اسکرین کے لیے ٹیم گیم، اور ہر کلاس کا الگ پروفائل۔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دو ٹیمیں 37 خانوں کے چھتے پر مقابلہ کرتی ہیں اور صحیح جواب سے خانے چھینتی ہیں۔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ہر خانہ اپنے لفظ کا پہلا حرف بطور اشارہ دکھاتا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سبق کے بعد کلاس کی پیش رفت صاف کریں۔</a:t>
            </a:r>
          </a:p>
        </p:txBody>
      </p:sp>
      <p:sp>
        <p:nvSpPr>
          <p:cNvPr id="6" name="Window shadow"/>
          <p:cNvSpPr/>
          <p:nvPr/>
        </p:nvSpPr>
        <p:spPr>
          <a:xfrm>
            <a:off x="1566367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1630375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6531559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6366967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6202375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teams" descr="desktea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807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569671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teams" descr="te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مصحف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اصل مصحف پڑھیں، رنگوں کے ساتھ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انڈو پاک 15 سطری حفظ والا مصحف، تجوید کے رنگوں کے ساتھ۔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610 صفحات، اور ہر صفحہ آیت پر ختم ہوتا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تجوید کے ہر رنگ کی رہنمائی، مثالوں کے ساتھ۔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صفحے پر کسی بھی لفظ پر ٹیپ کریں اور اس کا معنی دیکھیں۔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4473919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mushaf" descr="mush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4473919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tajweed" descr="tajw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6659575" y="566928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ہندی حروف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13855" y="1207008"/>
            <a:ext cx="4937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ابھی عربی حروف نہیں آتے؟ پھر بھی شروع کریں۔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6613855" y="251460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ہر لفظ ہندی حروف میں دکھایا جا سکتا ہے، اکیلا یا عربی کے نیچے۔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ٱلَّذِينَ کو </a:t>
            </a:r>
            <a:r>
              <a:rPr sz="1600" b="0" lang="hi-IN">
                <a:solidFill>
                  <a:srgbClr val="15302E"/>
                </a:solidFill>
                <a:latin typeface="Arial"/>
                <a:cs typeface="Nirmala UI"/>
              </a:rPr>
              <a:t>अल्लज़ी-न </a:t>
            </a: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لکھا جاتا ہے۔ "-" اس زبر کو ظاہر کرتا ہے جو پڑھا جاتا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آیت کا آخری لفظ وقف کے ساتھ لکھا جاتا ہے: </a:t>
            </a:r>
            <a:r>
              <a:rPr sz="1600" b="0" lang="hi-IN">
                <a:solidFill>
                  <a:srgbClr val="15302E"/>
                </a:solidFill>
                <a:latin typeface="Arial"/>
                <a:cs typeface="Nirmala UI"/>
              </a:rPr>
              <a:t>लिल्मुत्तक़ीन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کوئز بھی ہندی حروف میں آ جاتے ہیں۔</a:t>
            </a:r>
          </a:p>
        </p:txBody>
      </p:sp>
      <p:sp>
        <p:nvSpPr>
          <p:cNvPr id="6" name="Phone shadow"/>
          <p:cNvSpPr/>
          <p:nvPr/>
        </p:nvSpPr>
        <p:spPr>
          <a:xfrm>
            <a:off x="3450031" y="62179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creenshot hindi" descr="hind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54864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8" name="Phone shadow"/>
          <p:cNvSpPr/>
          <p:nvPr/>
        </p:nvSpPr>
        <p:spPr>
          <a:xfrm>
            <a:off x="523951" y="1033272"/>
            <a:ext cx="2651760" cy="5038344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Screenshot hquiz" descr="hqui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960120"/>
            <a:ext cx="2651760" cy="5038344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0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116775" y="566928"/>
            <a:ext cx="3749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ہر جگہ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071055" y="120700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فون، ٹیبلٹ یا کمپیوٹر پر</a:t>
            </a:r>
          </a:p>
        </p:txBody>
      </p:sp>
      <p:sp>
        <p:nvSpPr>
          <p:cNvPr id="5" name="Points"/>
          <p:cNvSpPr txBox="1"/>
          <p:nvPr/>
        </p:nvSpPr>
        <p:spPr>
          <a:xfrm>
            <a:off x="7071055" y="2514600"/>
            <a:ext cx="44805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1800" b="1" lang="ur-PK">
                <a:solidFill>
                  <a:srgbClr val="1F6F62"/>
                </a:solidFill>
                <a:latin typeface="Arial"/>
                <a:cs typeface="Arial"/>
              </a:rPr>
              <a:t>ایک بار انسٹال کریں اور کہیں بھی پڑھیں، انٹرنیٹ کے بغیر بھی۔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پہلی بار کے بعد آف لائن چلتی ہے۔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روشن یا تاریک انداز، فون کی سیٹنگ جو بھی ہو۔</a:t>
            </a:r>
          </a:p>
          <a:p>
            <a:pPr algn="r" rtl="1" marL="292608" indent="-292608">
              <a:lnSpc>
                <a:spcPct val="105000"/>
              </a:lnSpc>
              <a:spcAft>
                <a:spcPts val="900"/>
              </a:spcAft>
              <a:buClr>
                <a:srgbClr val="E9A227"/>
              </a:buClr>
              <a:buSzPct val="110000"/>
              <a:buFont typeface="Arial"/>
              <a:buChar char="•"/>
            </a:pPr>
            <a:r>
              <a:rPr sz="1600" b="0" lang="ur-PK">
                <a:solidFill>
                  <a:srgbClr val="15302E"/>
                </a:solidFill>
                <a:latin typeface="Arial"/>
                <a:cs typeface="Arial"/>
              </a:rPr>
              <a:t>کمپیوٹر پر ورڈ کارڈ صفحے کے ساتھ کھلتا ہے۔</a:t>
            </a:r>
          </a:p>
        </p:txBody>
      </p:sp>
      <p:sp>
        <p:nvSpPr>
          <p:cNvPr id="6" name="Window shadow"/>
          <p:cNvSpPr/>
          <p:nvPr/>
        </p:nvSpPr>
        <p:spPr>
          <a:xfrm>
            <a:off x="1566367" y="996696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 frame"/>
          <p:cNvSpPr/>
          <p:nvPr/>
        </p:nvSpPr>
        <p:spPr>
          <a:xfrm>
            <a:off x="1630375" y="914400"/>
            <a:ext cx="5120640" cy="3295903"/>
          </a:xfrm>
          <a:prstGeom prst="roundRect">
            <a:avLst>
              <a:gd name="adj" fmla="val 3000"/>
            </a:avLst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dot"/>
          <p:cNvSpPr/>
          <p:nvPr/>
        </p:nvSpPr>
        <p:spPr>
          <a:xfrm>
            <a:off x="6531559" y="987552"/>
            <a:ext cx="91440" cy="91440"/>
          </a:xfrm>
          <a:prstGeom prst="ellipse">
            <a:avLst/>
          </a:prstGeom>
          <a:solidFill>
            <a:srgbClr val="E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 dot"/>
          <p:cNvSpPr/>
          <p:nvPr/>
        </p:nvSpPr>
        <p:spPr>
          <a:xfrm>
            <a:off x="6366967" y="987552"/>
            <a:ext cx="91440" cy="91440"/>
          </a:xfrm>
          <a:prstGeom prst="ellipse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dot"/>
          <p:cNvSpPr/>
          <p:nvPr/>
        </p:nvSpPr>
        <p:spPr>
          <a:xfrm>
            <a:off x="6202375" y="987552"/>
            <a:ext cx="91440" cy="91440"/>
          </a:xfrm>
          <a:prstGeom prst="ellipse">
            <a:avLst/>
          </a:prstGeom>
          <a:solidFill>
            <a:srgbClr val="6C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creenshot desk" descr="de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807" y="1152144"/>
            <a:ext cx="5065776" cy="3021583"/>
          </a:xfrm>
          <a:prstGeom prst="rect">
            <a:avLst/>
          </a:prstGeom>
        </p:spPr>
      </p:pic>
      <p:sp>
        <p:nvSpPr>
          <p:cNvPr id="12" name="Phone shadow"/>
          <p:cNvSpPr/>
          <p:nvPr/>
        </p:nvSpPr>
        <p:spPr>
          <a:xfrm>
            <a:off x="569671" y="2221992"/>
            <a:ext cx="1920240" cy="3801090"/>
          </a:xfrm>
          <a:prstGeom prst="roundRect">
            <a:avLst>
              <a:gd name="adj" fmla="val 6000"/>
            </a:avLst>
          </a:prstGeom>
          <a:solidFill>
            <a:srgbClr val="C9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creenshot dark" descr="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" y="2148840"/>
            <a:ext cx="1920240" cy="3801090"/>
          </a:xfrm>
          <a:prstGeom prst="roundRect">
            <a:avLst>
              <a:gd name="adj" fmla="val 6000"/>
            </a:avLst>
          </a:prstGeom>
          <a:ln w="28575">
            <a:solidFill>
              <a:srgbClr val="15302E"/>
            </a:solidFill>
          </a:ln>
        </p:spPr>
      </p:pic>
      <p:sp>
        <p:nvSpPr>
          <p:cNvPr id="14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081735" y="566928"/>
            <a:ext cx="97840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B8740F"/>
                </a:solidFill>
                <a:latin typeface="Arial"/>
                <a:cs typeface="Arial"/>
              </a:rPr>
              <a:t>کس کے لیے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36015" y="1207008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15302E"/>
                </a:solidFill>
                <a:latin typeface="Arial"/>
                <a:cs typeface="Arial"/>
              </a:rPr>
              <a:t>قرآن سے محبت کرنے والے ہر شخص کے لیے</a:t>
            </a:r>
          </a:p>
        </p:txBody>
      </p:sp>
      <p:sp>
        <p:nvSpPr>
          <p:cNvPr id="5" name="Card 1"/>
          <p:cNvSpPr/>
          <p:nvPr/>
        </p:nvSpPr>
        <p:spPr>
          <a:xfrm>
            <a:off x="8122615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mark"/>
          <p:cNvSpPr/>
          <p:nvPr/>
        </p:nvSpPr>
        <p:spPr>
          <a:xfrm>
            <a:off x="10892881" y="265176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itle"/>
          <p:cNvSpPr txBox="1"/>
          <p:nvPr/>
        </p:nvSpPr>
        <p:spPr>
          <a:xfrm>
            <a:off x="8351215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طلبہ</a:t>
            </a:r>
          </a:p>
        </p:txBody>
      </p:sp>
      <p:sp>
        <p:nvSpPr>
          <p:cNvPr id="8" name="Card text"/>
          <p:cNvSpPr txBox="1"/>
          <p:nvPr/>
        </p:nvSpPr>
        <p:spPr>
          <a:xfrm>
            <a:off x="8351215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جو عربی حروف پڑھ سکتے ہیں اور معنی سمجھنا چاہتے ہیں۔</a:t>
            </a:r>
          </a:p>
        </p:txBody>
      </p:sp>
      <p:sp>
        <p:nvSpPr>
          <p:cNvPr id="9" name="Card 2"/>
          <p:cNvSpPr/>
          <p:nvPr/>
        </p:nvSpPr>
        <p:spPr>
          <a:xfrm>
            <a:off x="4446727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mark"/>
          <p:cNvSpPr/>
          <p:nvPr/>
        </p:nvSpPr>
        <p:spPr>
          <a:xfrm>
            <a:off x="7216993" y="265176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title"/>
          <p:cNvSpPr txBox="1"/>
          <p:nvPr/>
        </p:nvSpPr>
        <p:spPr>
          <a:xfrm>
            <a:off x="4675327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حفاظ</a:t>
            </a:r>
          </a:p>
        </p:txBody>
      </p:sp>
      <p:sp>
        <p:nvSpPr>
          <p:cNvPr id="12" name="Card text"/>
          <p:cNvSpPr txBox="1"/>
          <p:nvPr/>
        </p:nvSpPr>
        <p:spPr>
          <a:xfrm>
            <a:off x="4675327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جو یاد کرتے ہیں اسے سمجھیں، اسی 15 سطری صفحے پر۔</a:t>
            </a:r>
          </a:p>
        </p:txBody>
      </p:sp>
      <p:sp>
        <p:nvSpPr>
          <p:cNvPr id="13" name="Card 3"/>
          <p:cNvSpPr/>
          <p:nvPr/>
        </p:nvSpPr>
        <p:spPr>
          <a:xfrm>
            <a:off x="770839" y="237744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mark"/>
          <p:cNvSpPr/>
          <p:nvPr/>
        </p:nvSpPr>
        <p:spPr>
          <a:xfrm>
            <a:off x="3541105" y="2651760"/>
            <a:ext cx="430133" cy="384048"/>
          </a:xfrm>
          <a:prstGeom prst="hexagon">
            <a:avLst/>
          </a:prstGeom>
          <a:solidFill>
            <a:srgbClr val="B87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title"/>
          <p:cNvSpPr txBox="1"/>
          <p:nvPr/>
        </p:nvSpPr>
        <p:spPr>
          <a:xfrm>
            <a:off x="999439" y="263347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اساتذہ</a:t>
            </a:r>
          </a:p>
        </p:txBody>
      </p:sp>
      <p:sp>
        <p:nvSpPr>
          <p:cNvPr id="16" name="Card text"/>
          <p:cNvSpPr txBox="1"/>
          <p:nvPr/>
        </p:nvSpPr>
        <p:spPr>
          <a:xfrm>
            <a:off x="999439" y="32186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کلاس روم کے لیے ٹیم گیم اور کلاس پروفائل۔</a:t>
            </a:r>
          </a:p>
        </p:txBody>
      </p:sp>
      <p:sp>
        <p:nvSpPr>
          <p:cNvPr id="17" name="Card 4"/>
          <p:cNvSpPr/>
          <p:nvPr/>
        </p:nvSpPr>
        <p:spPr>
          <a:xfrm>
            <a:off x="8122615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mark"/>
          <p:cNvSpPr/>
          <p:nvPr/>
        </p:nvSpPr>
        <p:spPr>
          <a:xfrm>
            <a:off x="10892881" y="4572000"/>
            <a:ext cx="430133" cy="384048"/>
          </a:xfrm>
          <a:prstGeom prst="hexagon">
            <a:avLst/>
          </a:prstGeom>
          <a:solidFill>
            <a:srgbClr val="15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title"/>
          <p:cNvSpPr txBox="1"/>
          <p:nvPr/>
        </p:nvSpPr>
        <p:spPr>
          <a:xfrm>
            <a:off x="8351215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گھر والے</a:t>
            </a:r>
          </a:p>
        </p:txBody>
      </p:sp>
      <p:sp>
        <p:nvSpPr>
          <p:cNvPr id="20" name="Card text"/>
          <p:cNvSpPr txBox="1"/>
          <p:nvPr/>
        </p:nvSpPr>
        <p:spPr>
          <a:xfrm>
            <a:off x="8351215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مل کر سیکھیں، روزانہ چند آیات۔</a:t>
            </a:r>
          </a:p>
        </p:txBody>
      </p:sp>
      <p:sp>
        <p:nvSpPr>
          <p:cNvPr id="21" name="Card 5"/>
          <p:cNvSpPr/>
          <p:nvPr/>
        </p:nvSpPr>
        <p:spPr>
          <a:xfrm>
            <a:off x="4446727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mark"/>
          <p:cNvSpPr/>
          <p:nvPr/>
        </p:nvSpPr>
        <p:spPr>
          <a:xfrm>
            <a:off x="7216993" y="4572000"/>
            <a:ext cx="430133" cy="384048"/>
          </a:xfrm>
          <a:prstGeom prst="hexagon">
            <a:avLst/>
          </a:prstGeom>
          <a:solidFill>
            <a:srgbClr val="1F6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title"/>
          <p:cNvSpPr txBox="1"/>
          <p:nvPr/>
        </p:nvSpPr>
        <p:spPr>
          <a:xfrm>
            <a:off x="4675327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نئے پڑھنے والے</a:t>
            </a:r>
          </a:p>
        </p:txBody>
      </p:sp>
      <p:sp>
        <p:nvSpPr>
          <p:cNvPr id="24" name="Card text"/>
          <p:cNvSpPr txBox="1"/>
          <p:nvPr/>
        </p:nvSpPr>
        <p:spPr>
          <a:xfrm>
            <a:off x="4675327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عربی رسم الخط سے پہلے ہندی حروف میں شروع کریں۔</a:t>
            </a:r>
          </a:p>
        </p:txBody>
      </p:sp>
      <p:sp>
        <p:nvSpPr>
          <p:cNvPr id="25" name="Card 6"/>
          <p:cNvSpPr/>
          <p:nvPr/>
        </p:nvSpPr>
        <p:spPr>
          <a:xfrm>
            <a:off x="770839" y="42976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mark"/>
          <p:cNvSpPr/>
          <p:nvPr/>
        </p:nvSpPr>
        <p:spPr>
          <a:xfrm>
            <a:off x="3541105" y="4572000"/>
            <a:ext cx="430133" cy="38404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title"/>
          <p:cNvSpPr txBox="1"/>
          <p:nvPr/>
        </p:nvSpPr>
        <p:spPr>
          <a:xfrm>
            <a:off x="999439" y="4553712"/>
            <a:ext cx="2423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900" b="1" lang="ur-PK">
                <a:solidFill>
                  <a:srgbClr val="15302E"/>
                </a:solidFill>
                <a:latin typeface="Arial"/>
                <a:cs typeface="Arial"/>
              </a:rPr>
              <a:t>سب کے لیے مفت</a:t>
            </a:r>
          </a:p>
        </p:txBody>
      </p:sp>
      <p:sp>
        <p:nvSpPr>
          <p:cNvPr id="28" name="Card text"/>
          <p:cNvSpPr txBox="1"/>
          <p:nvPr/>
        </p:nvSpPr>
        <p:spPr>
          <a:xfrm>
            <a:off x="999439" y="513892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550" b="0" lang="ur-PK">
                <a:solidFill>
                  <a:srgbClr val="5D716E"/>
                </a:solidFill>
                <a:latin typeface="Arial"/>
                <a:cs typeface="Arial"/>
              </a:rPr>
              <a:t>کوئی اشتہار، سائن اپ یا ٹریکنگ نہیں۔ غیر تجارتی۔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5D716E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30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5D716E"/>
                </a:solidFill>
                <a:latin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 badge"/>
          <p:cNvSpPr/>
          <p:nvPr/>
        </p:nvSpPr>
        <p:spPr>
          <a:xfrm>
            <a:off x="11019068" y="566928"/>
            <a:ext cx="532546" cy="475488"/>
          </a:xfrm>
          <a:prstGeom prst="hexagon">
            <a:avLst/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lang="en-US">
                <a:solidFill>
                  <a:srgbClr val="FFFFFF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647895" y="566928"/>
            <a:ext cx="6217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00" b="1" lang="ur-PK">
                <a:solidFill>
                  <a:srgbClr val="E9A227"/>
                </a:solidFill>
                <a:latin typeface="Arial"/>
                <a:cs typeface="Arial"/>
              </a:rPr>
              <a:t>آج ہی شروع کریں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602175" y="1207008"/>
            <a:ext cx="69494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3200" b="1" lang="ur-PK">
                <a:solidFill>
                  <a:srgbClr val="FFFFFF"/>
                </a:solidFill>
                <a:latin typeface="Arial"/>
                <a:cs typeface="Arial"/>
              </a:rPr>
              <a:t>کھولیں، انسٹال کریں، شیئر کریں</a:t>
            </a:r>
          </a:p>
        </p:txBody>
      </p:sp>
      <p:sp>
        <p:nvSpPr>
          <p:cNvPr id="5" name="Link"/>
          <p:cNvSpPr/>
          <p:nvPr/>
        </p:nvSpPr>
        <p:spPr>
          <a:xfrm>
            <a:off x="5882335" y="224028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E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lang="en-US">
                <a:solidFill>
                  <a:srgbClr val="122A27"/>
                </a:solidFill>
                <a:latin typeface="Arial"/>
                <a:cs typeface="Arial"/>
              </a:rPr>
              <a:t>https://marshadkc.github.io/quranreader</a:t>
            </a:r>
          </a:p>
        </p:txBody>
      </p:sp>
      <p:sp>
        <p:nvSpPr>
          <p:cNvPr id="6" name="Step label"/>
          <p:cNvSpPr txBox="1"/>
          <p:nvPr/>
        </p:nvSpPr>
        <p:spPr>
          <a:xfrm>
            <a:off x="10088575" y="30175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lang="ur-PK">
                <a:solidFill>
                  <a:srgbClr val="E9A227"/>
                </a:solidFill>
                <a:latin typeface="Arial"/>
                <a:cs typeface="Arial"/>
              </a:rPr>
              <a:t>اینڈرائیڈ</a:t>
            </a:r>
          </a:p>
        </p:txBody>
      </p:sp>
      <p:sp>
        <p:nvSpPr>
          <p:cNvPr id="7" name="Step text"/>
          <p:cNvSpPr txBox="1"/>
          <p:nvPr/>
        </p:nvSpPr>
        <p:spPr>
          <a:xfrm>
            <a:off x="4922215" y="30175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لنک </a:t>
            </a: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Chrome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میں کھولیں، ⋮ دبائیں اور "</a:t>
            </a: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Add to Home screen"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چنیں۔</a:t>
            </a:r>
          </a:p>
        </p:txBody>
      </p:sp>
      <p:sp>
        <p:nvSpPr>
          <p:cNvPr id="8" name="Step label"/>
          <p:cNvSpPr txBox="1"/>
          <p:nvPr/>
        </p:nvSpPr>
        <p:spPr>
          <a:xfrm>
            <a:off x="10088575" y="373075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lang="ur-PK">
                <a:solidFill>
                  <a:srgbClr val="E9A227"/>
                </a:solidFill>
                <a:latin typeface="Arial"/>
                <a:cs typeface="Arial"/>
              </a:rPr>
              <a:t>آئی فون</a:t>
            </a:r>
          </a:p>
        </p:txBody>
      </p:sp>
      <p:sp>
        <p:nvSpPr>
          <p:cNvPr id="9" name="Step text"/>
          <p:cNvSpPr txBox="1"/>
          <p:nvPr/>
        </p:nvSpPr>
        <p:spPr>
          <a:xfrm>
            <a:off x="4922215" y="373075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Safari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میں کھولیں، </a:t>
            </a: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Share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دبائیں اور "</a:t>
            </a: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Add to Home Screen"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چنیں۔</a:t>
            </a:r>
          </a:p>
        </p:txBody>
      </p:sp>
      <p:sp>
        <p:nvSpPr>
          <p:cNvPr id="10" name="Step label"/>
          <p:cNvSpPr txBox="1"/>
          <p:nvPr/>
        </p:nvSpPr>
        <p:spPr>
          <a:xfrm>
            <a:off x="10088575" y="444398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600" b="1" lang="ur-PK">
                <a:solidFill>
                  <a:srgbClr val="E9A227"/>
                </a:solidFill>
                <a:latin typeface="Arial"/>
                <a:cs typeface="Arial"/>
              </a:rPr>
              <a:t>شیئر</a:t>
            </a:r>
          </a:p>
        </p:txBody>
      </p:sp>
      <p:sp>
        <p:nvSpPr>
          <p:cNvPr id="11" name="Step text"/>
          <p:cNvSpPr txBox="1"/>
          <p:nvPr/>
        </p:nvSpPr>
        <p:spPr>
          <a:xfrm>
            <a:off x="4922215" y="44439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</a:pP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ہوم پیج پر "</a:t>
            </a:r>
            <a:r>
              <a:rPr sz="1600" b="0" lang="en-US">
                <a:solidFill>
                  <a:srgbClr val="FFFFFF"/>
                </a:solidFill>
                <a:latin typeface="Arial"/>
                <a:cs typeface="Arial"/>
              </a:rPr>
              <a:t>Share this app" </a:t>
            </a:r>
            <a:r>
              <a:rPr sz="1600" b="0" lang="ur-PK">
                <a:solidFill>
                  <a:srgbClr val="FFFFFF"/>
                </a:solidFill>
                <a:latin typeface="Arial"/>
                <a:cs typeface="Arial"/>
              </a:rPr>
              <a:t>سے واٹس ایپ پر بھیجیں۔</a:t>
            </a:r>
          </a:p>
        </p:txBody>
      </p:sp>
      <p:sp>
        <p:nvSpPr>
          <p:cNvPr id="12" name="Credits"/>
          <p:cNvSpPr txBox="1"/>
          <p:nvPr/>
        </p:nvSpPr>
        <p:spPr>
          <a:xfrm>
            <a:off x="670255" y="525780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100" b="1" lang="ur-PK">
                <a:solidFill>
                  <a:srgbClr val="E9A227"/>
                </a:solidFill>
                <a:latin typeface="Arial"/>
                <a:cs typeface="Arial"/>
              </a:rPr>
              <a:t>حوالہ جات</a:t>
            </a:r>
          </a:p>
          <a:p>
            <a:pPr algn="r" rtl="1">
              <a:lnSpc>
                <a:spcPct val="100000"/>
              </a:lnSpc>
            </a:pP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عربی متن، لفظ کے حصے اور مادے: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Quranic Arabic Corpus (quran-morphology)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۔ الفاظ کے معانی: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Quran.com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؛ اردو اور ہندی: الہدیٰ انٹرنیشنل۔ آیات کے تراجم: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Saheeh International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، فتح محمد جالندھری، عزیز الحق العمری۔ مصحف کی ترتیب: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QUL (Tarteel)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۔ مادوں کے معانی: کلاسیکی لغات،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tafsir.app 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کے ذریعے۔ انڈو پاک فونٹ: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QuranWBW</a:t>
            </a:r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۔</a:t>
            </a:r>
          </a:p>
        </p:txBody>
      </p:sp>
      <p:sp>
        <p:nvSpPr>
          <p:cNvPr id="13" name="Shadow"/>
          <p:cNvSpPr/>
          <p:nvPr/>
        </p:nvSpPr>
        <p:spPr>
          <a:xfrm>
            <a:off x="523951" y="2313432"/>
            <a:ext cx="3931920" cy="1769364"/>
          </a:xfrm>
          <a:prstGeom prst="roundRect">
            <a:avLst>
              <a:gd name="adj" fmla="val 8000"/>
            </a:avLst>
          </a:prstGeom>
          <a:solidFill>
            <a:srgbClr val="0A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hare card" descr="The Share this app card on the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" y="2240280"/>
            <a:ext cx="3931920" cy="1769364"/>
          </a:xfrm>
          <a:prstGeom prst="roundRect">
            <a:avLst/>
          </a:prstGeom>
          <a:ln w="25400">
            <a:solidFill>
              <a:srgbClr val="E9A227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3779215" y="6419088"/>
            <a:ext cx="7772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050" b="0" lang="ur-PK">
                <a:solidFill>
                  <a:srgbClr val="9FCFC3"/>
                </a:solidFill>
                <a:latin typeface="Arial"/>
                <a:cs typeface="Arial"/>
              </a:rPr>
              <a:t>مفت · غیر تجارتی · </a:t>
            </a:r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marshadkc.github.io/quranreader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640080" y="641908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lang="en-US">
                <a:solidFill>
                  <a:srgbClr val="9FCFC3"/>
                </a:solidFill>
                <a:latin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 Word Reader · قرآن کو اس کے اپنے الفاظ میں سمجھیں</dc:title>
  <dc:subject>Features</dc:subject>
  <dc:creator>Quran Word Reader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