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A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"/>
          <p:cNvSpPr/>
          <p:nvPr/>
        </p:nvSpPr>
        <p:spPr>
          <a:xfrm>
            <a:off x="10916655" y="502920"/>
            <a:ext cx="634959" cy="566928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xagon"/>
          <p:cNvSpPr/>
          <p:nvPr/>
        </p:nvSpPr>
        <p:spPr>
          <a:xfrm>
            <a:off x="10340583" y="822960"/>
            <a:ext cx="634959" cy="566928"/>
          </a:xfrm>
          <a:prstGeom prst="hexagon">
            <a:avLst/>
          </a:prstGeom>
          <a:solidFill>
            <a:srgbClr val="E9D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xagon"/>
          <p:cNvSpPr/>
          <p:nvPr/>
        </p:nvSpPr>
        <p:spPr>
          <a:xfrm>
            <a:off x="10340583" y="182880"/>
            <a:ext cx="634959" cy="566928"/>
          </a:xfrm>
          <a:prstGeom prst="hexagon">
            <a:avLst/>
          </a:prstGeom>
          <a:solidFill>
            <a:srgbClr val="1F6F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pp name"/>
          <p:cNvSpPr txBox="1"/>
          <p:nvPr/>
        </p:nvSpPr>
        <p:spPr>
          <a:xfrm>
            <a:off x="6065215" y="173736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00" b="1" lang="en-US">
                <a:solidFill>
                  <a:srgbClr val="E9A227"/>
                </a:solidFill>
                <a:latin typeface="Arial"/>
                <a:cs typeface="Arial"/>
              </a:rPr>
              <a:t>Quran Word Reader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6065215" y="2286000"/>
            <a:ext cx="54864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95000"/>
              </a:lnSpc>
            </a:pPr>
            <a:r>
              <a:rPr sz="3800" b="1" lang="ur-PK">
                <a:solidFill>
                  <a:srgbClr val="FFFFFF"/>
                </a:solidFill>
                <a:latin typeface="Arial"/>
                <a:cs typeface="Arial"/>
              </a:rPr>
              <a:t>قرآن کو اس کے اپنے الفاظ میں سمجھیں</a:t>
            </a:r>
          </a:p>
        </p:txBody>
      </p:sp>
      <p:sp>
        <p:nvSpPr>
          <p:cNvPr id="7" name="Subtitle"/>
          <p:cNvSpPr txBox="1"/>
          <p:nvPr/>
        </p:nvSpPr>
        <p:spPr>
          <a:xfrm>
            <a:off x="6248095" y="4343400"/>
            <a:ext cx="5303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0000"/>
              </a:lnSpc>
            </a:pPr>
            <a:r>
              <a:rPr sz="1800" b="0" lang="ur-PK">
                <a:solidFill>
                  <a:srgbClr val="9FCFC3"/>
                </a:solidFill>
                <a:latin typeface="Arial"/>
                <a:cs typeface="Arial"/>
              </a:rPr>
              <a:t>ہر عربی لفظ کا معنی سیکھیں، اور قرآن کو بغیر ترجمے کے پڑھیں۔</a:t>
            </a:r>
          </a:p>
        </p:txBody>
      </p:sp>
      <p:sp>
        <p:nvSpPr>
          <p:cNvPr id="8" name="Link"/>
          <p:cNvSpPr/>
          <p:nvPr/>
        </p:nvSpPr>
        <p:spPr>
          <a:xfrm>
            <a:off x="6979615" y="5349240"/>
            <a:ext cx="4572000" cy="548640"/>
          </a:xfrm>
          <a:prstGeom prst="roundRect">
            <a:avLst>
              <a:gd name="adj" fmla="val 50000"/>
            </a:avLst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lang="en-US">
                <a:solidFill>
                  <a:srgbClr val="122A27"/>
                </a:solidFill>
                <a:latin typeface="Arial"/>
                <a:cs typeface="Arial"/>
              </a:rPr>
              <a:t>marshadkc.github.io/quranreader</a:t>
            </a:r>
          </a:p>
        </p:txBody>
      </p:sp>
      <p:sp>
        <p:nvSpPr>
          <p:cNvPr id="9" name="Badges"/>
          <p:cNvSpPr txBox="1"/>
          <p:nvPr/>
        </p:nvSpPr>
        <p:spPr>
          <a:xfrm>
            <a:off x="6065215" y="60350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/>
            <a:r>
              <a:rPr sz="1300" b="0" lang="ur-PK">
                <a:solidFill>
                  <a:srgbClr val="9FCFC3"/>
                </a:solidFill>
                <a:latin typeface="Arial"/>
                <a:cs typeface="Arial"/>
              </a:rPr>
              <a:t>مفت  ·  کوئی اشتہار نہیں  ·  </a:t>
            </a:r>
            <a:r>
              <a:rPr sz="1300" b="0" lang="en-US">
                <a:solidFill>
                  <a:srgbClr val="9FCFC3"/>
                </a:solidFill>
                <a:latin typeface="Arial"/>
                <a:cs typeface="Arial"/>
              </a:rPr>
              <a:t>English · </a:t>
            </a:r>
            <a:r>
              <a:rPr sz="1300" b="0" lang="ur-PK">
                <a:solidFill>
                  <a:srgbClr val="9FCFC3"/>
                </a:solidFill>
                <a:latin typeface="Arial"/>
                <a:cs typeface="Arial"/>
              </a:rPr>
              <a:t>اردو · </a:t>
            </a:r>
            <a:r>
              <a:rPr sz="1300" b="0" lang="hi-IN">
                <a:solidFill>
                  <a:srgbClr val="9FCFC3"/>
                </a:solidFill>
                <a:latin typeface="Arial"/>
                <a:cs typeface="Nirmala UI"/>
              </a:rPr>
              <a:t>हिंदी</a:t>
            </a:r>
          </a:p>
        </p:txBody>
      </p:sp>
      <p:sp>
        <p:nvSpPr>
          <p:cNvPr id="10" name="Phone shadow"/>
          <p:cNvSpPr/>
          <p:nvPr/>
        </p:nvSpPr>
        <p:spPr>
          <a:xfrm>
            <a:off x="3541471" y="1216152"/>
            <a:ext cx="2331720" cy="4615609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Screenshot card" descr="car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6335" y="1143000"/>
            <a:ext cx="2331720" cy="4615609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12" name="Phone shadow"/>
          <p:cNvSpPr/>
          <p:nvPr/>
        </p:nvSpPr>
        <p:spPr>
          <a:xfrm>
            <a:off x="249631" y="1216152"/>
            <a:ext cx="2331720" cy="4615609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Screenshot honey" descr="hone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495" y="1143000"/>
            <a:ext cx="2331720" cy="4615609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14" name="Phone shadow"/>
          <p:cNvSpPr/>
          <p:nvPr/>
        </p:nvSpPr>
        <p:spPr>
          <a:xfrm>
            <a:off x="1712671" y="484632"/>
            <a:ext cx="2697480" cy="5339627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Screenshot fade" descr="fad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7535" y="411480"/>
            <a:ext cx="2697480" cy="5339627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30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515081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/>
            <a:r>
              <a:rPr sz="1400" b="1" lang="ur-PK">
                <a:solidFill>
                  <a:srgbClr val="E9A227"/>
                </a:solidFill>
                <a:latin typeface="Arial"/>
                <a:cs typeface="Arial"/>
              </a:rPr>
              <a:t>کیوں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4876495" y="1234440"/>
            <a:ext cx="667512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98000"/>
              </a:lnSpc>
            </a:pPr>
            <a:r>
              <a:rPr sz="4000" b="1" lang="ur-PK">
                <a:solidFill>
                  <a:srgbClr val="FFFFFF"/>
                </a:solidFill>
                <a:latin typeface="Arial"/>
                <a:cs typeface="Arial"/>
              </a:rPr>
              <a:t>آپ روز تلاوت کرتے ہیں۔ اب ہر لفظ سمجھیں۔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5150815" y="4069080"/>
            <a:ext cx="64008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900" b="0" lang="ur-PK">
                <a:solidFill>
                  <a:srgbClr val="9FCFC3"/>
                </a:solidFill>
                <a:latin typeface="Arial"/>
                <a:cs typeface="Arial"/>
              </a:rPr>
              <a:t>ہم میں سے اکثر قرآن عربی میں پڑھتے ہیں مگر اسے صرف ترجمے کے ذریعے سمجھتے ہیں۔ </a:t>
            </a:r>
            <a:r>
              <a:rPr sz="1900" b="0" lang="en-US">
                <a:solidFill>
                  <a:srgbClr val="9FCFC3"/>
                </a:solidFill>
                <a:latin typeface="Arial"/>
                <a:cs typeface="Arial"/>
              </a:rPr>
              <a:t>Quran Word Reader </a:t>
            </a:r>
            <a:r>
              <a:rPr sz="1900" b="0" lang="ur-PK">
                <a:solidFill>
                  <a:srgbClr val="9FCFC3"/>
                </a:solidFill>
                <a:latin typeface="Arial"/>
                <a:cs typeface="Arial"/>
              </a:rPr>
              <a:t>خود الفاظ سکھاتی ہے، تاکہ عربی صفحہ آپ سے براہِ راست بات کرے۔</a:t>
            </a:r>
          </a:p>
        </p:txBody>
      </p:sp>
      <p:sp>
        <p:nvSpPr>
          <p:cNvPr id="5" name="Phone shadow"/>
          <p:cNvSpPr/>
          <p:nvPr/>
        </p:nvSpPr>
        <p:spPr>
          <a:xfrm>
            <a:off x="752551" y="576072"/>
            <a:ext cx="2880360" cy="5701635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creenshot none" descr="non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" y="502920"/>
            <a:ext cx="2880360" cy="5701635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7" name="Footer"/>
          <p:cNvSpPr txBox="1"/>
          <p:nvPr/>
        </p:nvSpPr>
        <p:spPr>
          <a:xfrm>
            <a:off x="3779215" y="6419088"/>
            <a:ext cx="7772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/>
            <a:r>
              <a:rPr sz="1050" b="0" lang="ur-PK">
                <a:solidFill>
                  <a:srgbClr val="9FCFC3"/>
                </a:solidFill>
                <a:latin typeface="Arial"/>
                <a:cs typeface="Arial"/>
              </a:rPr>
              <a:t>مفت · غیر تجارتی · </a:t>
            </a:r>
            <a:r>
              <a:rPr sz="1050" b="0" lang="en-US">
                <a:solidFill>
                  <a:srgbClr val="9FCFC3"/>
                </a:solidFill>
                <a:latin typeface="Arial"/>
                <a:cs typeface="Arial"/>
              </a:rPr>
              <a:t>marshadkc.github.io/quranreader</a:t>
            </a:r>
          </a:p>
        </p:txBody>
      </p:sp>
      <p:sp>
        <p:nvSpPr>
          <p:cNvPr id="8" name="Slide number"/>
          <p:cNvSpPr txBox="1"/>
          <p:nvPr/>
        </p:nvSpPr>
        <p:spPr>
          <a:xfrm>
            <a:off x="640080" y="641908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lang="en-US">
                <a:solidFill>
                  <a:srgbClr val="9FCFC3"/>
                </a:solidFill>
                <a:latin typeface="Arial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 badge"/>
          <p:cNvSpPr/>
          <p:nvPr/>
        </p:nvSpPr>
        <p:spPr>
          <a:xfrm>
            <a:off x="11019068" y="566928"/>
            <a:ext cx="532546" cy="475488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US">
                <a:solidFill>
                  <a:srgbClr val="FFFFFF"/>
                </a:solidFill>
                <a:latin typeface="Arial"/>
                <a:cs typeface="Arial"/>
              </a:rPr>
              <a:t>01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715975" y="566928"/>
            <a:ext cx="101498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/>
            <a:r>
              <a:rPr sz="1300" b="1" lang="ur-PK">
                <a:solidFill>
                  <a:srgbClr val="B8740F"/>
                </a:solidFill>
                <a:latin typeface="Arial"/>
                <a:cs typeface="Arial"/>
              </a:rPr>
              <a:t>خیال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70255" y="1207008"/>
            <a:ext cx="108813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95000"/>
              </a:lnSpc>
            </a:pPr>
            <a:r>
              <a:rPr sz="3200" b="1" lang="ur-PK">
                <a:solidFill>
                  <a:srgbClr val="15302E"/>
                </a:solidFill>
                <a:latin typeface="Arial"/>
                <a:cs typeface="Arial"/>
              </a:rPr>
              <a:t>ترجمے کو آہستہ آہستہ غائب ہوتے دیکھیں</a:t>
            </a:r>
          </a:p>
        </p:txBody>
      </p:sp>
      <p:sp>
        <p:nvSpPr>
          <p:cNvPr id="5" name="Stage"/>
          <p:cNvSpPr txBox="1"/>
          <p:nvPr/>
        </p:nvSpPr>
        <p:spPr>
          <a:xfrm>
            <a:off x="8468715" y="1920240"/>
            <a:ext cx="3246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/>
            <a:r>
              <a:rPr sz="1500" b="1" lang="ur-PK">
                <a:solidFill>
                  <a:srgbClr val="B8740F"/>
                </a:solidFill>
                <a:latin typeface="Arial"/>
                <a:cs typeface="Arial"/>
              </a:rPr>
              <a:t>آغاز</a:t>
            </a:r>
          </a:p>
          <a:p>
            <a:pPr algn="ctr" rtl="1">
              <a:lnSpc>
                <a:spcPct val="100000"/>
              </a:lnSpc>
            </a:pPr>
            <a:r>
              <a:rPr sz="1500" b="0" lang="ur-PK">
                <a:solidFill>
                  <a:srgbClr val="15302E"/>
                </a:solidFill>
                <a:latin typeface="Arial"/>
                <a:cs typeface="Arial"/>
              </a:rPr>
              <a:t>ہر لفظ کے نیچے اس کا معنی</a:t>
            </a:r>
          </a:p>
        </p:txBody>
      </p:sp>
      <p:sp>
        <p:nvSpPr>
          <p:cNvPr id="6" name="Phone shadow"/>
          <p:cNvSpPr/>
          <p:nvPr/>
        </p:nvSpPr>
        <p:spPr>
          <a:xfrm>
            <a:off x="8779611" y="2770632"/>
            <a:ext cx="2514600" cy="3520439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Screenshot reader" descr="ہر لفظ کے نیچے اس کا معن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4475" y="2697480"/>
            <a:ext cx="2514600" cy="3520439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8" name="Arrow"/>
          <p:cNvSpPr/>
          <p:nvPr/>
        </p:nvSpPr>
        <p:spPr>
          <a:xfrm rot="10800000">
            <a:off x="7819491" y="4114800"/>
            <a:ext cx="548640" cy="685800"/>
          </a:xfrm>
          <a:prstGeom prst="chevr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tage"/>
          <p:cNvSpPr txBox="1"/>
          <p:nvPr/>
        </p:nvSpPr>
        <p:spPr>
          <a:xfrm>
            <a:off x="4472787" y="1920240"/>
            <a:ext cx="3246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/>
            <a:r>
              <a:rPr sz="1500" b="1" lang="ur-PK">
                <a:solidFill>
                  <a:srgbClr val="B8740F"/>
                </a:solidFill>
                <a:latin typeface="Arial"/>
                <a:cs typeface="Arial"/>
              </a:rPr>
              <a:t>سیکھتے ہوئے</a:t>
            </a:r>
          </a:p>
          <a:p>
            <a:pPr algn="ctr" rtl="1">
              <a:lnSpc>
                <a:spcPct val="100000"/>
              </a:lnSpc>
            </a:pPr>
            <a:r>
              <a:rPr sz="1500" b="0" lang="ur-PK">
                <a:solidFill>
                  <a:srgbClr val="15302E"/>
                </a:solidFill>
                <a:latin typeface="Arial"/>
                <a:cs typeface="Arial"/>
              </a:rPr>
              <a:t>جو لفظ سیکھ لیا، اس کا معنی مدھم</a:t>
            </a:r>
          </a:p>
        </p:txBody>
      </p:sp>
      <p:sp>
        <p:nvSpPr>
          <p:cNvPr id="10" name="Phone shadow"/>
          <p:cNvSpPr/>
          <p:nvPr/>
        </p:nvSpPr>
        <p:spPr>
          <a:xfrm>
            <a:off x="4783683" y="2770632"/>
            <a:ext cx="2514600" cy="3520439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Screenshot fade" descr="جو لفظ سیکھ لیا، اس کا معنی مدھم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8547" y="2697480"/>
            <a:ext cx="2514600" cy="3520439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12" name="Arrow"/>
          <p:cNvSpPr/>
          <p:nvPr/>
        </p:nvSpPr>
        <p:spPr>
          <a:xfrm rot="10800000">
            <a:off x="3823563" y="4114800"/>
            <a:ext cx="548640" cy="685800"/>
          </a:xfrm>
          <a:prstGeom prst="chevr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Stage"/>
          <p:cNvSpPr txBox="1"/>
          <p:nvPr/>
        </p:nvSpPr>
        <p:spPr>
          <a:xfrm>
            <a:off x="476859" y="1920240"/>
            <a:ext cx="3246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/>
            <a:r>
              <a:rPr sz="1500" b="1" lang="ur-PK">
                <a:solidFill>
                  <a:srgbClr val="B8740F"/>
                </a:solidFill>
                <a:latin typeface="Arial"/>
                <a:cs typeface="Arial"/>
              </a:rPr>
              <a:t>منزل</a:t>
            </a:r>
          </a:p>
          <a:p>
            <a:pPr algn="ctr" rtl="1">
              <a:lnSpc>
                <a:spcPct val="100000"/>
              </a:lnSpc>
            </a:pPr>
            <a:r>
              <a:rPr sz="1500" b="0" lang="ur-PK">
                <a:solidFill>
                  <a:srgbClr val="15302E"/>
                </a:solidFill>
                <a:latin typeface="Arial"/>
                <a:cs typeface="Arial"/>
              </a:rPr>
              <a:t>صرف عربی، اور آپ سمجھ رہے ہیں</a:t>
            </a:r>
          </a:p>
        </p:txBody>
      </p:sp>
      <p:sp>
        <p:nvSpPr>
          <p:cNvPr id="14" name="Phone shadow"/>
          <p:cNvSpPr/>
          <p:nvPr/>
        </p:nvSpPr>
        <p:spPr>
          <a:xfrm>
            <a:off x="787755" y="2770632"/>
            <a:ext cx="2514600" cy="3520439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Screenshot none" descr="صرف عربی، اور آپ سمجھ رہے ہیں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619" y="2697480"/>
            <a:ext cx="2514600" cy="3520439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16" name="Footer"/>
          <p:cNvSpPr txBox="1"/>
          <p:nvPr/>
        </p:nvSpPr>
        <p:spPr>
          <a:xfrm>
            <a:off x="3779215" y="6419088"/>
            <a:ext cx="7772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/>
            <a:r>
              <a:rPr sz="1050" b="0" lang="ur-PK">
                <a:solidFill>
                  <a:srgbClr val="5D716E"/>
                </a:solidFill>
                <a:latin typeface="Arial"/>
                <a:cs typeface="Arial"/>
              </a:rPr>
              <a:t>مفت · غیر تجارتی · </a:t>
            </a:r>
            <a:r>
              <a:rPr sz="1050" b="0" lang="en-US">
                <a:solidFill>
                  <a:srgbClr val="5D716E"/>
                </a:solidFill>
                <a:latin typeface="Arial"/>
                <a:cs typeface="Arial"/>
              </a:rPr>
              <a:t>marshadkc.github.io/quranreader</a:t>
            </a:r>
          </a:p>
        </p:txBody>
      </p:sp>
      <p:sp>
        <p:nvSpPr>
          <p:cNvPr id="17" name="Slide number"/>
          <p:cNvSpPr txBox="1"/>
          <p:nvPr/>
        </p:nvSpPr>
        <p:spPr>
          <a:xfrm>
            <a:off x="640080" y="641908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lang="en-US">
                <a:solidFill>
                  <a:srgbClr val="5D716E"/>
                </a:solidFill>
                <a:latin typeface="Arial"/>
                <a:cs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 badge"/>
          <p:cNvSpPr/>
          <p:nvPr/>
        </p:nvSpPr>
        <p:spPr>
          <a:xfrm>
            <a:off x="11019068" y="566928"/>
            <a:ext cx="532546" cy="475488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US">
                <a:solidFill>
                  <a:srgbClr val="FFFFFF"/>
                </a:solidFill>
                <a:latin typeface="Arial"/>
                <a:cs typeface="Arial"/>
              </a:rPr>
              <a:t>02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4099255" y="566928"/>
            <a:ext cx="676655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/>
            <a:r>
              <a:rPr sz="1300" b="1" lang="ur-PK">
                <a:solidFill>
                  <a:srgbClr val="B8740F"/>
                </a:solidFill>
                <a:latin typeface="Arial"/>
                <a:cs typeface="Arial"/>
              </a:rPr>
              <a:t>ایک نظر میں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4053535" y="1207008"/>
            <a:ext cx="7498079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95000"/>
              </a:lnSpc>
            </a:pPr>
            <a:r>
              <a:rPr sz="3200" b="1" lang="ur-PK">
                <a:solidFill>
                  <a:srgbClr val="15302E"/>
                </a:solidFill>
                <a:latin typeface="Arial"/>
                <a:cs typeface="Arial"/>
              </a:rPr>
              <a:t>پورا قرآن، لفظ بہ لفظ</a:t>
            </a:r>
          </a:p>
        </p:txBody>
      </p:sp>
      <p:sp>
        <p:nvSpPr>
          <p:cNvPr id="5" name="Stat 1"/>
          <p:cNvSpPr/>
          <p:nvPr/>
        </p:nvSpPr>
        <p:spPr>
          <a:xfrm>
            <a:off x="7939735" y="2331720"/>
            <a:ext cx="361188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tat number"/>
          <p:cNvSpPr txBox="1"/>
          <p:nvPr/>
        </p:nvSpPr>
        <p:spPr>
          <a:xfrm>
            <a:off x="8214055" y="2514600"/>
            <a:ext cx="3063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/>
            <a:r>
              <a:rPr sz="4400" b="1" lang="en-US">
                <a:solidFill>
                  <a:srgbClr val="B8740F"/>
                </a:solidFill>
                <a:latin typeface="Arial"/>
                <a:cs typeface="Arial"/>
              </a:rPr>
              <a:t>114</a:t>
            </a:r>
          </a:p>
        </p:txBody>
      </p:sp>
      <p:sp>
        <p:nvSpPr>
          <p:cNvPr id="7" name="Stat label"/>
          <p:cNvSpPr txBox="1"/>
          <p:nvPr/>
        </p:nvSpPr>
        <p:spPr>
          <a:xfrm>
            <a:off x="8214055" y="3310128"/>
            <a:ext cx="306324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0000"/>
              </a:lnSpc>
            </a:pPr>
            <a:r>
              <a:rPr sz="1450" b="0" lang="ur-PK">
                <a:solidFill>
                  <a:srgbClr val="15302E"/>
                </a:solidFill>
                <a:latin typeface="Arial"/>
                <a:cs typeface="Arial"/>
              </a:rPr>
              <a:t>سورتیں: پورا قرآن، الفاتحہ سے الناس تک</a:t>
            </a:r>
          </a:p>
        </p:txBody>
      </p:sp>
      <p:sp>
        <p:nvSpPr>
          <p:cNvPr id="8" name="Stat 2"/>
          <p:cNvSpPr/>
          <p:nvPr/>
        </p:nvSpPr>
        <p:spPr>
          <a:xfrm>
            <a:off x="4053535" y="2331720"/>
            <a:ext cx="361188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tat number"/>
          <p:cNvSpPr txBox="1"/>
          <p:nvPr/>
        </p:nvSpPr>
        <p:spPr>
          <a:xfrm>
            <a:off x="4327855" y="2514600"/>
            <a:ext cx="3063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/>
            <a:r>
              <a:rPr sz="4400" b="1" lang="en-US">
                <a:solidFill>
                  <a:srgbClr val="B8740F"/>
                </a:solidFill>
                <a:latin typeface="Arial"/>
                <a:cs typeface="Arial"/>
              </a:rPr>
              <a:t>77,429</a:t>
            </a:r>
          </a:p>
        </p:txBody>
      </p:sp>
      <p:sp>
        <p:nvSpPr>
          <p:cNvPr id="10" name="Stat label"/>
          <p:cNvSpPr txBox="1"/>
          <p:nvPr/>
        </p:nvSpPr>
        <p:spPr>
          <a:xfrm>
            <a:off x="4327855" y="3310128"/>
            <a:ext cx="306324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0000"/>
              </a:lnSpc>
            </a:pPr>
            <a:r>
              <a:rPr sz="1450" b="0" lang="ur-PK">
                <a:solidFill>
                  <a:srgbClr val="15302E"/>
                </a:solidFill>
                <a:latin typeface="Arial"/>
                <a:cs typeface="Arial"/>
              </a:rPr>
              <a:t>الفاظ، ہر ایک اپنے معنی کے ساتھ</a:t>
            </a:r>
          </a:p>
        </p:txBody>
      </p:sp>
      <p:sp>
        <p:nvSpPr>
          <p:cNvPr id="11" name="Stat 3"/>
          <p:cNvSpPr/>
          <p:nvPr/>
        </p:nvSpPr>
        <p:spPr>
          <a:xfrm>
            <a:off x="7939735" y="4279392"/>
            <a:ext cx="361188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Stat number"/>
          <p:cNvSpPr txBox="1"/>
          <p:nvPr/>
        </p:nvSpPr>
        <p:spPr>
          <a:xfrm>
            <a:off x="8214055" y="4462272"/>
            <a:ext cx="3063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/>
            <a:r>
              <a:rPr sz="4400" b="1" lang="en-US">
                <a:solidFill>
                  <a:srgbClr val="1F6F62"/>
                </a:solidFill>
                <a:latin typeface="Arial"/>
                <a:cs typeface="Arial"/>
              </a:rPr>
              <a:t>7</a:t>
            </a:r>
          </a:p>
        </p:txBody>
      </p:sp>
      <p:sp>
        <p:nvSpPr>
          <p:cNvPr id="13" name="Stat label"/>
          <p:cNvSpPr txBox="1"/>
          <p:nvPr/>
        </p:nvSpPr>
        <p:spPr>
          <a:xfrm>
            <a:off x="8214055" y="5257800"/>
            <a:ext cx="306324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0000"/>
              </a:lnSpc>
            </a:pPr>
            <a:r>
              <a:rPr sz="1450" b="0" lang="ur-PK">
                <a:solidFill>
                  <a:srgbClr val="15302E"/>
                </a:solidFill>
                <a:latin typeface="Arial"/>
                <a:cs typeface="Arial"/>
              </a:rPr>
              <a:t>کلاسیکی عربی لغات، ہر مادے کے معنی کے لیے</a:t>
            </a:r>
          </a:p>
        </p:txBody>
      </p:sp>
      <p:sp>
        <p:nvSpPr>
          <p:cNvPr id="14" name="Stat 4"/>
          <p:cNvSpPr/>
          <p:nvPr/>
        </p:nvSpPr>
        <p:spPr>
          <a:xfrm>
            <a:off x="4053535" y="4279392"/>
            <a:ext cx="361188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Stat number"/>
          <p:cNvSpPr txBox="1"/>
          <p:nvPr/>
        </p:nvSpPr>
        <p:spPr>
          <a:xfrm>
            <a:off x="4327855" y="4462272"/>
            <a:ext cx="3063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/>
            <a:r>
              <a:rPr sz="4400" b="1" lang="en-US">
                <a:solidFill>
                  <a:srgbClr val="1F6F62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6" name="Stat label"/>
          <p:cNvSpPr txBox="1"/>
          <p:nvPr/>
        </p:nvSpPr>
        <p:spPr>
          <a:xfrm>
            <a:off x="4327855" y="5257800"/>
            <a:ext cx="306324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0000"/>
              </a:lnSpc>
            </a:pPr>
            <a:r>
              <a:rPr sz="1450" b="0" lang="ur-PK">
                <a:solidFill>
                  <a:srgbClr val="15302E"/>
                </a:solidFill>
                <a:latin typeface="Arial"/>
                <a:cs typeface="Arial"/>
              </a:rPr>
              <a:t>زبانیں: </a:t>
            </a:r>
            <a:r>
              <a:rPr sz="1450" b="0" lang="en-US">
                <a:solidFill>
                  <a:srgbClr val="15302E"/>
                </a:solidFill>
                <a:latin typeface="Arial"/>
                <a:cs typeface="Arial"/>
              </a:rPr>
              <a:t>English</a:t>
            </a:r>
            <a:r>
              <a:rPr sz="1450" b="0" lang="ur-PK">
                <a:solidFill>
                  <a:srgbClr val="15302E"/>
                </a:solidFill>
                <a:latin typeface="Arial"/>
                <a:cs typeface="Arial"/>
              </a:rPr>
              <a:t>، اردو اور </a:t>
            </a:r>
            <a:r>
              <a:rPr sz="1450" b="0" lang="hi-IN">
                <a:solidFill>
                  <a:srgbClr val="15302E"/>
                </a:solidFill>
                <a:latin typeface="Arial"/>
                <a:cs typeface="Nirmala UI"/>
              </a:rPr>
              <a:t>हिंदी</a:t>
            </a:r>
          </a:p>
        </p:txBody>
      </p:sp>
      <p:sp>
        <p:nvSpPr>
          <p:cNvPr id="17" name="Note"/>
          <p:cNvSpPr txBox="1"/>
          <p:nvPr/>
        </p:nvSpPr>
        <p:spPr>
          <a:xfrm>
            <a:off x="4053535" y="6053328"/>
            <a:ext cx="74980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/>
            <a:r>
              <a:rPr sz="1150" b="0" lang="ur-PK">
                <a:solidFill>
                  <a:srgbClr val="5D716E"/>
                </a:solidFill>
                <a:latin typeface="Arial"/>
                <a:cs typeface="Arial"/>
              </a:rPr>
              <a:t>مفت، بغیر کسی اشتہار یا سائن اپ کے۔</a:t>
            </a:r>
          </a:p>
        </p:txBody>
      </p:sp>
      <p:sp>
        <p:nvSpPr>
          <p:cNvPr id="18" name="Phone shadow"/>
          <p:cNvSpPr/>
          <p:nvPr/>
        </p:nvSpPr>
        <p:spPr>
          <a:xfrm>
            <a:off x="661111" y="576072"/>
            <a:ext cx="2743200" cy="5430129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Screenshot progress" descr="progres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975" y="502920"/>
            <a:ext cx="2743200" cy="5430129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20" name="Footer"/>
          <p:cNvSpPr txBox="1"/>
          <p:nvPr/>
        </p:nvSpPr>
        <p:spPr>
          <a:xfrm>
            <a:off x="3779215" y="6419088"/>
            <a:ext cx="7772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/>
            <a:r>
              <a:rPr sz="1050" b="0" lang="ur-PK">
                <a:solidFill>
                  <a:srgbClr val="5D716E"/>
                </a:solidFill>
                <a:latin typeface="Arial"/>
                <a:cs typeface="Arial"/>
              </a:rPr>
              <a:t>مفت · غیر تجارتی · </a:t>
            </a:r>
            <a:r>
              <a:rPr sz="1050" b="0" lang="en-US">
                <a:solidFill>
                  <a:srgbClr val="5D716E"/>
                </a:solidFill>
                <a:latin typeface="Arial"/>
                <a:cs typeface="Arial"/>
              </a:rPr>
              <a:t>marshadkc.github.io/quranreader</a:t>
            </a:r>
          </a:p>
        </p:txBody>
      </p:sp>
      <p:sp>
        <p:nvSpPr>
          <p:cNvPr id="21" name="Slide number"/>
          <p:cNvSpPr txBox="1"/>
          <p:nvPr/>
        </p:nvSpPr>
        <p:spPr>
          <a:xfrm>
            <a:off x="640080" y="641908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lang="en-US">
                <a:solidFill>
                  <a:srgbClr val="5D716E"/>
                </a:solidFill>
                <a:latin typeface="Arial"/>
                <a:cs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 badge"/>
          <p:cNvSpPr/>
          <p:nvPr/>
        </p:nvSpPr>
        <p:spPr>
          <a:xfrm>
            <a:off x="11019068" y="566928"/>
            <a:ext cx="532546" cy="475488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US">
                <a:solidFill>
                  <a:srgbClr val="FFFFFF"/>
                </a:solidFill>
                <a:latin typeface="Arial"/>
                <a:cs typeface="Arial"/>
              </a:rPr>
              <a:t>03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1081735" y="566928"/>
            <a:ext cx="97840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/>
            <a:r>
              <a:rPr sz="1300" b="1" lang="ur-PK">
                <a:solidFill>
                  <a:srgbClr val="B8740F"/>
                </a:solidFill>
                <a:latin typeface="Arial"/>
                <a:cs typeface="Arial"/>
              </a:rPr>
              <a:t>طریقہ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1036015" y="1207008"/>
            <a:ext cx="105156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95000"/>
              </a:lnSpc>
            </a:pPr>
            <a:r>
              <a:rPr sz="3200" b="1" lang="ur-PK">
                <a:solidFill>
                  <a:srgbClr val="15302E"/>
                </a:solidFill>
                <a:latin typeface="Arial"/>
                <a:cs typeface="Arial"/>
              </a:rPr>
              <a:t>روزانہ کی ایک آسان عادت</a:t>
            </a:r>
          </a:p>
        </p:txBody>
      </p:sp>
      <p:sp>
        <p:nvSpPr>
          <p:cNvPr id="5" name="Step 1"/>
          <p:cNvSpPr/>
          <p:nvPr/>
        </p:nvSpPr>
        <p:spPr>
          <a:xfrm>
            <a:off x="8122615" y="2331720"/>
            <a:ext cx="34290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tep number"/>
          <p:cNvSpPr/>
          <p:nvPr/>
        </p:nvSpPr>
        <p:spPr>
          <a:xfrm>
            <a:off x="10759744" y="2587752"/>
            <a:ext cx="563270" cy="502920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lang="en-US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7" name="Step text"/>
          <p:cNvSpPr txBox="1"/>
          <p:nvPr/>
        </p:nvSpPr>
        <p:spPr>
          <a:xfrm>
            <a:off x="8351215" y="3200400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0000"/>
              </a:lnSpc>
            </a:pPr>
            <a:r>
              <a:rPr sz="1700" b="0" lang="ur-PK">
                <a:solidFill>
                  <a:srgbClr val="15302E"/>
                </a:solidFill>
                <a:latin typeface="Arial"/>
                <a:cs typeface="Arial"/>
              </a:rPr>
              <a:t>روزانہ 3، 5 یا 10 آیات لیں۔</a:t>
            </a:r>
          </a:p>
        </p:txBody>
      </p:sp>
      <p:sp>
        <p:nvSpPr>
          <p:cNvPr id="8" name="Step 2"/>
          <p:cNvSpPr/>
          <p:nvPr/>
        </p:nvSpPr>
        <p:spPr>
          <a:xfrm>
            <a:off x="4446727" y="2331720"/>
            <a:ext cx="34290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tep number"/>
          <p:cNvSpPr/>
          <p:nvPr/>
        </p:nvSpPr>
        <p:spPr>
          <a:xfrm>
            <a:off x="7083856" y="2587752"/>
            <a:ext cx="563270" cy="502920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lang="en-US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Step text"/>
          <p:cNvSpPr txBox="1"/>
          <p:nvPr/>
        </p:nvSpPr>
        <p:spPr>
          <a:xfrm>
            <a:off x="4675327" y="3200400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0000"/>
              </a:lnSpc>
            </a:pPr>
            <a:r>
              <a:rPr sz="1700" b="0" lang="ur-PK">
                <a:solidFill>
                  <a:srgbClr val="15302E"/>
                </a:solidFill>
                <a:latin typeface="Arial"/>
                <a:cs typeface="Arial"/>
              </a:rPr>
              <a:t>ہر لفظ بلند آواز سے پڑھیں، پھر اس کا معنی۔</a:t>
            </a:r>
          </a:p>
        </p:txBody>
      </p:sp>
      <p:sp>
        <p:nvSpPr>
          <p:cNvPr id="11" name="Step 3"/>
          <p:cNvSpPr/>
          <p:nvPr/>
        </p:nvSpPr>
        <p:spPr>
          <a:xfrm>
            <a:off x="770839" y="2331720"/>
            <a:ext cx="34290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Step number"/>
          <p:cNvSpPr/>
          <p:nvPr/>
        </p:nvSpPr>
        <p:spPr>
          <a:xfrm>
            <a:off x="3407968" y="2587752"/>
            <a:ext cx="563270" cy="502920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lang="en-US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3" name="Step text"/>
          <p:cNvSpPr txBox="1"/>
          <p:nvPr/>
        </p:nvSpPr>
        <p:spPr>
          <a:xfrm>
            <a:off x="999439" y="3200400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0000"/>
              </a:lnSpc>
            </a:pPr>
            <a:r>
              <a:rPr sz="1700" b="0" lang="ur-PK">
                <a:solidFill>
                  <a:srgbClr val="15302E"/>
                </a:solidFill>
                <a:latin typeface="Arial"/>
                <a:cs typeface="Arial"/>
              </a:rPr>
              <a:t>اس حصے کو 7 بار دہرائیں۔</a:t>
            </a:r>
          </a:p>
        </p:txBody>
      </p:sp>
      <p:sp>
        <p:nvSpPr>
          <p:cNvPr id="14" name="Step 4"/>
          <p:cNvSpPr/>
          <p:nvPr/>
        </p:nvSpPr>
        <p:spPr>
          <a:xfrm>
            <a:off x="8122615" y="4160520"/>
            <a:ext cx="34290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Step number"/>
          <p:cNvSpPr/>
          <p:nvPr/>
        </p:nvSpPr>
        <p:spPr>
          <a:xfrm>
            <a:off x="10759744" y="4416552"/>
            <a:ext cx="563270" cy="502920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lang="en-US">
                <a:solidFill>
                  <a:srgbClr val="FFFF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6" name="Step text"/>
          <p:cNvSpPr txBox="1"/>
          <p:nvPr/>
        </p:nvSpPr>
        <p:spPr>
          <a:xfrm>
            <a:off x="8351215" y="5029200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0000"/>
              </a:lnSpc>
            </a:pPr>
            <a:r>
              <a:rPr sz="1700" b="0" lang="ur-PK">
                <a:solidFill>
                  <a:srgbClr val="15302E"/>
                </a:solidFill>
                <a:latin typeface="Arial"/>
                <a:cs typeface="Arial"/>
              </a:rPr>
              <a:t>معانی چھپائیں (</a:t>
            </a:r>
            <a:r>
              <a:rPr sz="1700" b="0" lang="en-US">
                <a:solidFill>
                  <a:srgbClr val="15302E"/>
                </a:solidFill>
                <a:latin typeface="Arial"/>
                <a:cs typeface="Arial"/>
              </a:rPr>
              <a:t>None) </a:t>
            </a:r>
            <a:r>
              <a:rPr sz="1700" b="0" lang="ur-PK">
                <a:solidFill>
                  <a:srgbClr val="15302E"/>
                </a:solidFill>
                <a:latin typeface="Arial"/>
                <a:cs typeface="Arial"/>
              </a:rPr>
              <a:t>اور دوبارہ پڑھیں۔</a:t>
            </a:r>
          </a:p>
        </p:txBody>
      </p:sp>
      <p:sp>
        <p:nvSpPr>
          <p:cNvPr id="17" name="Step 5"/>
          <p:cNvSpPr/>
          <p:nvPr/>
        </p:nvSpPr>
        <p:spPr>
          <a:xfrm>
            <a:off x="4446727" y="4160520"/>
            <a:ext cx="34290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Step number"/>
          <p:cNvSpPr/>
          <p:nvPr/>
        </p:nvSpPr>
        <p:spPr>
          <a:xfrm>
            <a:off x="7083856" y="4416552"/>
            <a:ext cx="563270" cy="502920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lang="en-US">
                <a:solidFill>
                  <a:srgbClr val="FFFFFF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19" name="Step text"/>
          <p:cNvSpPr txBox="1"/>
          <p:nvPr/>
        </p:nvSpPr>
        <p:spPr>
          <a:xfrm>
            <a:off x="4675327" y="5029200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0000"/>
              </a:lnSpc>
            </a:pPr>
            <a:r>
              <a:rPr sz="1700" b="0" lang="ur-PK">
                <a:solidFill>
                  <a:srgbClr val="15302E"/>
                </a:solidFill>
                <a:latin typeface="Arial"/>
                <a:cs typeface="Arial"/>
              </a:rPr>
              <a:t>ایک مختصر کوئز سے مشق کریں۔</a:t>
            </a:r>
          </a:p>
        </p:txBody>
      </p:sp>
      <p:sp>
        <p:nvSpPr>
          <p:cNvPr id="20" name="Step 6"/>
          <p:cNvSpPr/>
          <p:nvPr/>
        </p:nvSpPr>
        <p:spPr>
          <a:xfrm>
            <a:off x="770839" y="4160520"/>
            <a:ext cx="34290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Step number"/>
          <p:cNvSpPr/>
          <p:nvPr/>
        </p:nvSpPr>
        <p:spPr>
          <a:xfrm>
            <a:off x="3407968" y="4416552"/>
            <a:ext cx="563270" cy="502920"/>
          </a:xfrm>
          <a:prstGeom prst="hexagon">
            <a:avLst/>
          </a:prstGeom>
          <a:solidFill>
            <a:srgbClr val="1F6F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lang="en-US">
                <a:solidFill>
                  <a:srgbClr val="FFFFFF"/>
                </a:solidFill>
                <a:latin typeface="Arial"/>
                <a:cs typeface="Arial"/>
              </a:rPr>
              <a:t>6</a:t>
            </a:r>
          </a:p>
        </p:txBody>
      </p:sp>
      <p:sp>
        <p:nvSpPr>
          <p:cNvPr id="22" name="Step text"/>
          <p:cNvSpPr txBox="1"/>
          <p:nvPr/>
        </p:nvSpPr>
        <p:spPr>
          <a:xfrm>
            <a:off x="999439" y="5029200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0000"/>
              </a:lnSpc>
            </a:pPr>
            <a:r>
              <a:rPr sz="1700" b="0" lang="ur-PK">
                <a:solidFill>
                  <a:srgbClr val="15302E"/>
                </a:solidFill>
                <a:latin typeface="Arial"/>
                <a:cs typeface="Arial"/>
              </a:rPr>
              <a:t>بغیر ترجمے کا مصحف ہاتھ میں لے کر پڑھیں۔</a:t>
            </a:r>
          </a:p>
        </p:txBody>
      </p:sp>
      <p:sp>
        <p:nvSpPr>
          <p:cNvPr id="23" name="Closing line"/>
          <p:cNvSpPr txBox="1"/>
          <p:nvPr/>
        </p:nvSpPr>
        <p:spPr>
          <a:xfrm>
            <a:off x="670255" y="59436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/>
            <a:r>
              <a:rPr sz="1500" b="1" lang="ur-PK">
                <a:solidFill>
                  <a:srgbClr val="1F6F62"/>
                </a:solidFill>
                <a:latin typeface="Arial"/>
                <a:cs typeface="Arial"/>
              </a:rPr>
              <a:t>اسی طرح پوری سورت، اور پھر پورا قرآن مکمل کریں۔</a:t>
            </a:r>
          </a:p>
        </p:txBody>
      </p:sp>
      <p:sp>
        <p:nvSpPr>
          <p:cNvPr id="24" name="Footer"/>
          <p:cNvSpPr txBox="1"/>
          <p:nvPr/>
        </p:nvSpPr>
        <p:spPr>
          <a:xfrm>
            <a:off x="3779215" y="6419088"/>
            <a:ext cx="7772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/>
            <a:r>
              <a:rPr sz="1050" b="0" lang="ur-PK">
                <a:solidFill>
                  <a:srgbClr val="5D716E"/>
                </a:solidFill>
                <a:latin typeface="Arial"/>
                <a:cs typeface="Arial"/>
              </a:rPr>
              <a:t>مفت · غیر تجارتی · </a:t>
            </a:r>
            <a:r>
              <a:rPr sz="1050" b="0" lang="en-US">
                <a:solidFill>
                  <a:srgbClr val="5D716E"/>
                </a:solidFill>
                <a:latin typeface="Arial"/>
                <a:cs typeface="Arial"/>
              </a:rPr>
              <a:t>marshadkc.github.io/quranreader</a:t>
            </a:r>
          </a:p>
        </p:txBody>
      </p:sp>
      <p:sp>
        <p:nvSpPr>
          <p:cNvPr id="25" name="Slide number"/>
          <p:cNvSpPr txBox="1"/>
          <p:nvPr/>
        </p:nvSpPr>
        <p:spPr>
          <a:xfrm>
            <a:off x="640080" y="641908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lang="en-US">
                <a:solidFill>
                  <a:srgbClr val="5D716E"/>
                </a:solidFill>
                <a:latin typeface="Arial"/>
                <a:cs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 badge"/>
          <p:cNvSpPr/>
          <p:nvPr/>
        </p:nvSpPr>
        <p:spPr>
          <a:xfrm>
            <a:off x="11019068" y="566928"/>
            <a:ext cx="532546" cy="475488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US">
                <a:solidFill>
                  <a:srgbClr val="FFFFFF"/>
                </a:solidFill>
                <a:latin typeface="Arial"/>
                <a:cs typeface="Arial"/>
              </a:rPr>
              <a:t>04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6659575" y="566928"/>
            <a:ext cx="4206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/>
            <a:r>
              <a:rPr sz="1300" b="1" lang="ur-PK">
                <a:solidFill>
                  <a:srgbClr val="B8740F"/>
                </a:solidFill>
                <a:latin typeface="Arial"/>
                <a:cs typeface="Arial"/>
              </a:rPr>
              <a:t>ریڈر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613855" y="1207008"/>
            <a:ext cx="49377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95000"/>
              </a:lnSpc>
            </a:pPr>
            <a:r>
              <a:rPr sz="3200" b="1" lang="ur-PK">
                <a:solidFill>
                  <a:srgbClr val="15302E"/>
                </a:solidFill>
                <a:latin typeface="Arial"/>
                <a:cs typeface="Arial"/>
              </a:rPr>
              <a:t>ہر لفظ کے نیچے اس کا معنی</a:t>
            </a:r>
          </a:p>
        </p:txBody>
      </p:sp>
      <p:sp>
        <p:nvSpPr>
          <p:cNvPr id="5" name="Points"/>
          <p:cNvSpPr txBox="1"/>
          <p:nvPr/>
        </p:nvSpPr>
        <p:spPr>
          <a:xfrm>
            <a:off x="6613855" y="2514600"/>
            <a:ext cx="493776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5000"/>
              </a:lnSpc>
              <a:spcAft>
                <a:spcPts val="1400"/>
              </a:spcAft>
            </a:pPr>
            <a:r>
              <a:rPr sz="1800" b="1" lang="ur-PK">
                <a:solidFill>
                  <a:srgbClr val="1F6F62"/>
                </a:solidFill>
                <a:latin typeface="Arial"/>
                <a:cs typeface="Arial"/>
              </a:rPr>
              <a:t>کوئی بھی سورت لفظ بہ لفظ پڑھیں: انگریزی، اردو یا ہندی میں۔</a:t>
            </a:r>
          </a:p>
          <a:p>
            <a:pPr algn="r" rtl="1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ur-PK">
                <a:solidFill>
                  <a:srgbClr val="15302E"/>
                </a:solidFill>
                <a:latin typeface="Arial"/>
                <a:cs typeface="Arial"/>
              </a:rPr>
              <a:t>ایک یا دو زبانیں، اور نیچے آیت کا مکمل ترجمہ۔</a:t>
            </a:r>
          </a:p>
          <a:p>
            <a:pPr algn="r" rtl="1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ur-PK">
                <a:solidFill>
                  <a:srgbClr val="15302E"/>
                </a:solidFill>
                <a:latin typeface="Arial"/>
                <a:cs typeface="Arial"/>
              </a:rPr>
              <a:t>جو لفظ سیکھ لیں، اس کا معنی مدھم ہو جاتا ہے۔</a:t>
            </a:r>
          </a:p>
          <a:p>
            <a:pPr algn="r" rtl="1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ur-PK">
                <a:solidFill>
                  <a:srgbClr val="15302E"/>
                </a:solidFill>
                <a:latin typeface="Arial"/>
                <a:cs typeface="Arial"/>
              </a:rPr>
              <a:t>امتحان کے لیے </a:t>
            </a:r>
            <a:r>
              <a:rPr sz="1600" b="0" lang="en-US">
                <a:solidFill>
                  <a:srgbClr val="15302E"/>
                </a:solidFill>
                <a:latin typeface="Arial"/>
                <a:cs typeface="Arial"/>
              </a:rPr>
              <a:t>None </a:t>
            </a:r>
            <a:r>
              <a:rPr sz="1600" b="0" lang="ur-PK">
                <a:solidFill>
                  <a:srgbClr val="15302E"/>
                </a:solidFill>
                <a:latin typeface="Arial"/>
                <a:cs typeface="Arial"/>
              </a:rPr>
              <a:t>دبائیں، اور ضرورت ہو تو لفظ پر ٹیپ کریں۔</a:t>
            </a:r>
          </a:p>
        </p:txBody>
      </p:sp>
      <p:sp>
        <p:nvSpPr>
          <p:cNvPr id="6" name="Phone shadow"/>
          <p:cNvSpPr/>
          <p:nvPr/>
        </p:nvSpPr>
        <p:spPr>
          <a:xfrm>
            <a:off x="3450031" y="621792"/>
            <a:ext cx="2651760" cy="5038344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Screenshot reader" descr="read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4895" y="548640"/>
            <a:ext cx="2651760" cy="5038344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8" name="Phone shadow"/>
          <p:cNvSpPr/>
          <p:nvPr/>
        </p:nvSpPr>
        <p:spPr>
          <a:xfrm>
            <a:off x="523951" y="1033272"/>
            <a:ext cx="2651760" cy="5038344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Screenshot fade" descr="fad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815" y="960120"/>
            <a:ext cx="2651760" cy="5038344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10" name="Footer"/>
          <p:cNvSpPr txBox="1"/>
          <p:nvPr/>
        </p:nvSpPr>
        <p:spPr>
          <a:xfrm>
            <a:off x="3779215" y="6419088"/>
            <a:ext cx="7772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/>
            <a:r>
              <a:rPr sz="1050" b="0" lang="ur-PK">
                <a:solidFill>
                  <a:srgbClr val="5D716E"/>
                </a:solidFill>
                <a:latin typeface="Arial"/>
                <a:cs typeface="Arial"/>
              </a:rPr>
              <a:t>مفت · غیر تجارتی · </a:t>
            </a:r>
            <a:r>
              <a:rPr sz="1050" b="0" lang="en-US">
                <a:solidFill>
                  <a:srgbClr val="5D716E"/>
                </a:solidFill>
                <a:latin typeface="Arial"/>
                <a:cs typeface="Arial"/>
              </a:rPr>
              <a:t>marshadkc.github.io/quranreader</a:t>
            </a:r>
          </a:p>
        </p:txBody>
      </p:sp>
      <p:sp>
        <p:nvSpPr>
          <p:cNvPr id="11" name="Slide number"/>
          <p:cNvSpPr txBox="1"/>
          <p:nvPr/>
        </p:nvSpPr>
        <p:spPr>
          <a:xfrm>
            <a:off x="640080" y="641908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lang="en-US">
                <a:solidFill>
                  <a:srgbClr val="5D716E"/>
                </a:solidFill>
                <a:latin typeface="Arial"/>
                <a:cs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 badge"/>
          <p:cNvSpPr/>
          <p:nvPr/>
        </p:nvSpPr>
        <p:spPr>
          <a:xfrm>
            <a:off x="11019068" y="566928"/>
            <a:ext cx="532546" cy="475488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US">
                <a:solidFill>
                  <a:srgbClr val="FFFFFF"/>
                </a:solidFill>
                <a:latin typeface="Arial"/>
                <a:cs typeface="Arial"/>
              </a:rPr>
              <a:t>05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6659575" y="566928"/>
            <a:ext cx="4206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/>
            <a:r>
              <a:rPr sz="1300" b="1" lang="ur-PK">
                <a:solidFill>
                  <a:srgbClr val="B8740F"/>
                </a:solidFill>
                <a:latin typeface="Arial"/>
                <a:cs typeface="Arial"/>
              </a:rPr>
              <a:t>ورڈ کارڈ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613855" y="1207008"/>
            <a:ext cx="49377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95000"/>
              </a:lnSpc>
            </a:pPr>
            <a:r>
              <a:rPr sz="3200" b="1" lang="ur-PK">
                <a:solidFill>
                  <a:srgbClr val="15302E"/>
                </a:solidFill>
                <a:latin typeface="Arial"/>
                <a:cs typeface="Arial"/>
              </a:rPr>
              <a:t>ہر لفظ کھل کر سامنے آتا ہے</a:t>
            </a:r>
          </a:p>
        </p:txBody>
      </p:sp>
      <p:sp>
        <p:nvSpPr>
          <p:cNvPr id="5" name="Points"/>
          <p:cNvSpPr txBox="1"/>
          <p:nvPr/>
        </p:nvSpPr>
        <p:spPr>
          <a:xfrm>
            <a:off x="6613855" y="2514600"/>
            <a:ext cx="493776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5000"/>
              </a:lnSpc>
              <a:spcAft>
                <a:spcPts val="1400"/>
              </a:spcAft>
            </a:pPr>
            <a:r>
              <a:rPr sz="1800" b="1" lang="ur-PK">
                <a:solidFill>
                  <a:srgbClr val="1F6F62"/>
                </a:solidFill>
                <a:latin typeface="Arial"/>
                <a:cs typeface="Arial"/>
              </a:rPr>
              <a:t>لفظ پر ٹیپ کریں اور دیکھیں کہ وہ کیسے بنا ہے اور اس کے مادے کا معنی کیا ہے۔</a:t>
            </a:r>
          </a:p>
          <a:p>
            <a:pPr algn="r" rtl="1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ur-PK">
                <a:solidFill>
                  <a:srgbClr val="15302E"/>
                </a:solidFill>
                <a:latin typeface="Arial"/>
                <a:cs typeface="Arial"/>
              </a:rPr>
              <a:t>اس کے حصے رنگوں میں: وَ، فَ، ٱل اور لاحقے۔</a:t>
            </a:r>
          </a:p>
          <a:p>
            <a:pPr algn="r" rtl="1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ur-PK">
                <a:solidFill>
                  <a:srgbClr val="15302E"/>
                </a:solidFill>
                <a:latin typeface="Arial"/>
                <a:cs typeface="Arial"/>
              </a:rPr>
              <a:t>مادے کا معنی عربی کی 7 کلاسیکی لغات سے۔</a:t>
            </a:r>
          </a:p>
          <a:p>
            <a:pPr algn="r" rtl="1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ur-PK">
                <a:solidFill>
                  <a:srgbClr val="15302E"/>
                </a:solidFill>
                <a:latin typeface="Arial"/>
                <a:cs typeface="Arial"/>
              </a:rPr>
              <a:t>لفظ کی صورتیں: فعل کیسے بدلتا ہے، قرآن میں آنے والی صورتیں نمایاں۔</a:t>
            </a:r>
          </a:p>
        </p:txBody>
      </p:sp>
      <p:sp>
        <p:nvSpPr>
          <p:cNvPr id="6" name="Phone shadow"/>
          <p:cNvSpPr/>
          <p:nvPr/>
        </p:nvSpPr>
        <p:spPr>
          <a:xfrm>
            <a:off x="3450031" y="621792"/>
            <a:ext cx="2651760" cy="5038344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Screenshot card" descr="car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4895" y="548640"/>
            <a:ext cx="2651760" cy="5038344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8" name="Phone shadow"/>
          <p:cNvSpPr/>
          <p:nvPr/>
        </p:nvSpPr>
        <p:spPr>
          <a:xfrm>
            <a:off x="523951" y="1033272"/>
            <a:ext cx="2651760" cy="5038344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Screenshot forms" descr="form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815" y="960120"/>
            <a:ext cx="2651760" cy="5038344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10" name="Footer"/>
          <p:cNvSpPr txBox="1"/>
          <p:nvPr/>
        </p:nvSpPr>
        <p:spPr>
          <a:xfrm>
            <a:off x="3779215" y="6419088"/>
            <a:ext cx="7772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/>
            <a:r>
              <a:rPr sz="1050" b="0" lang="ur-PK">
                <a:solidFill>
                  <a:srgbClr val="5D716E"/>
                </a:solidFill>
                <a:latin typeface="Arial"/>
                <a:cs typeface="Arial"/>
              </a:rPr>
              <a:t>مفت · غیر تجارتی · </a:t>
            </a:r>
            <a:r>
              <a:rPr sz="1050" b="0" lang="en-US">
                <a:solidFill>
                  <a:srgbClr val="5D716E"/>
                </a:solidFill>
                <a:latin typeface="Arial"/>
                <a:cs typeface="Arial"/>
              </a:rPr>
              <a:t>marshadkc.github.io/quranreader</a:t>
            </a:r>
          </a:p>
        </p:txBody>
      </p:sp>
      <p:sp>
        <p:nvSpPr>
          <p:cNvPr id="11" name="Slide number"/>
          <p:cNvSpPr txBox="1"/>
          <p:nvPr/>
        </p:nvSpPr>
        <p:spPr>
          <a:xfrm>
            <a:off x="640080" y="641908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lang="en-US">
                <a:solidFill>
                  <a:srgbClr val="5D716E"/>
                </a:solidFill>
                <a:latin typeface="Arial"/>
                <a:cs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 badge"/>
          <p:cNvSpPr/>
          <p:nvPr/>
        </p:nvSpPr>
        <p:spPr>
          <a:xfrm>
            <a:off x="11019068" y="566928"/>
            <a:ext cx="532546" cy="475488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US">
                <a:solidFill>
                  <a:srgbClr val="FFFFFF"/>
                </a:solidFill>
                <a:latin typeface="Arial"/>
                <a:cs typeface="Arial"/>
              </a:rPr>
              <a:t>06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6659575" y="566928"/>
            <a:ext cx="4206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/>
            <a:r>
              <a:rPr sz="1300" b="1" lang="ur-PK">
                <a:solidFill>
                  <a:srgbClr val="B8740F"/>
                </a:solidFill>
                <a:latin typeface="Arial"/>
                <a:cs typeface="Arial"/>
              </a:rPr>
              <a:t>تلاش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613855" y="1207008"/>
            <a:ext cx="49377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95000"/>
              </a:lnSpc>
            </a:pPr>
            <a:r>
              <a:rPr sz="3200" b="1" lang="ur-PK">
                <a:solidFill>
                  <a:srgbClr val="15302E"/>
                </a:solidFill>
                <a:latin typeface="Arial"/>
                <a:cs typeface="Arial"/>
              </a:rPr>
              <a:t>پورا قرآن آپ کی انگلیوں پر</a:t>
            </a:r>
          </a:p>
        </p:txBody>
      </p:sp>
      <p:sp>
        <p:nvSpPr>
          <p:cNvPr id="5" name="Points"/>
          <p:cNvSpPr txBox="1"/>
          <p:nvPr/>
        </p:nvSpPr>
        <p:spPr>
          <a:xfrm>
            <a:off x="6613855" y="2514600"/>
            <a:ext cx="493776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5000"/>
              </a:lnSpc>
              <a:spcAft>
                <a:spcPts val="1400"/>
              </a:spcAft>
            </a:pPr>
            <a:r>
              <a:rPr sz="1800" b="1" lang="ur-PK">
                <a:solidFill>
                  <a:srgbClr val="1F6F62"/>
                </a:solidFill>
                <a:latin typeface="Arial"/>
                <a:cs typeface="Arial"/>
              </a:rPr>
              <a:t>کوئی بھی آیت، یا ہر وہ جگہ جہاں کوئی لفظ یا اس کا مادہ آیا ہو۔</a:t>
            </a:r>
          </a:p>
          <a:p>
            <a:pPr algn="r" rtl="1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ur-PK">
                <a:solidFill>
                  <a:srgbClr val="15302E"/>
                </a:solidFill>
                <a:latin typeface="Arial"/>
                <a:cs typeface="Arial"/>
              </a:rPr>
              <a:t>2:255 لکھیں اور سیدھے آیت الکرسی پر پہنچیں۔</a:t>
            </a:r>
          </a:p>
          <a:p>
            <a:pPr algn="r" rtl="1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ur-PK">
                <a:solidFill>
                  <a:srgbClr val="15302E"/>
                </a:solidFill>
                <a:latin typeface="Arial"/>
                <a:cs typeface="Arial"/>
              </a:rPr>
              <a:t>رحمة: 313 آیات میں 339 بار، ہر صورت اور ہجے کے ساتھ۔</a:t>
            </a:r>
          </a:p>
          <a:p>
            <a:pPr algn="r" rtl="1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ur-PK">
                <a:solidFill>
                  <a:srgbClr val="15302E"/>
                </a:solidFill>
                <a:latin typeface="Arial"/>
                <a:cs typeface="Arial"/>
              </a:rPr>
              <a:t>کوئی بھی نتیجہ اس کی سورت میں یا مصحف کے صفحے پر کھولیں۔</a:t>
            </a:r>
          </a:p>
        </p:txBody>
      </p:sp>
      <p:sp>
        <p:nvSpPr>
          <p:cNvPr id="6" name="Phone shadow"/>
          <p:cNvSpPr/>
          <p:nvPr/>
        </p:nvSpPr>
        <p:spPr>
          <a:xfrm>
            <a:off x="3450031" y="621792"/>
            <a:ext cx="2651760" cy="5038344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Screenshot search" descr="search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4895" y="548640"/>
            <a:ext cx="2651760" cy="5038344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8" name="Phone shadow"/>
          <p:cNvSpPr/>
          <p:nvPr/>
        </p:nvSpPr>
        <p:spPr>
          <a:xfrm>
            <a:off x="523951" y="1033272"/>
            <a:ext cx="2651760" cy="5038344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Screenshot results" descr="resul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815" y="960120"/>
            <a:ext cx="2651760" cy="5038344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10" name="Footer"/>
          <p:cNvSpPr txBox="1"/>
          <p:nvPr/>
        </p:nvSpPr>
        <p:spPr>
          <a:xfrm>
            <a:off x="3779215" y="6419088"/>
            <a:ext cx="7772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/>
            <a:r>
              <a:rPr sz="1050" b="0" lang="ur-PK">
                <a:solidFill>
                  <a:srgbClr val="5D716E"/>
                </a:solidFill>
                <a:latin typeface="Arial"/>
                <a:cs typeface="Arial"/>
              </a:rPr>
              <a:t>مفت · غیر تجارتی · </a:t>
            </a:r>
            <a:r>
              <a:rPr sz="1050" b="0" lang="en-US">
                <a:solidFill>
                  <a:srgbClr val="5D716E"/>
                </a:solidFill>
                <a:latin typeface="Arial"/>
                <a:cs typeface="Arial"/>
              </a:rPr>
              <a:t>marshadkc.github.io/quranreader</a:t>
            </a:r>
          </a:p>
        </p:txBody>
      </p:sp>
      <p:sp>
        <p:nvSpPr>
          <p:cNvPr id="11" name="Slide number"/>
          <p:cNvSpPr txBox="1"/>
          <p:nvPr/>
        </p:nvSpPr>
        <p:spPr>
          <a:xfrm>
            <a:off x="640080" y="641908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lang="en-US">
                <a:solidFill>
                  <a:srgbClr val="5D716E"/>
                </a:solidFill>
                <a:latin typeface="Arial"/>
                <a:cs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 badge"/>
          <p:cNvSpPr/>
          <p:nvPr/>
        </p:nvSpPr>
        <p:spPr>
          <a:xfrm>
            <a:off x="11019068" y="566928"/>
            <a:ext cx="532546" cy="475488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US">
                <a:solidFill>
                  <a:srgbClr val="FFFFFF"/>
                </a:solidFill>
                <a:latin typeface="Arial"/>
                <a:cs typeface="Arial"/>
              </a:rPr>
              <a:t>07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6659575" y="566928"/>
            <a:ext cx="4206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/>
            <a:r>
              <a:rPr sz="1300" b="1" lang="ur-PK">
                <a:solidFill>
                  <a:srgbClr val="B8740F"/>
                </a:solidFill>
                <a:latin typeface="Arial"/>
                <a:cs typeface="Arial"/>
              </a:rPr>
              <a:t>ترقی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613855" y="1207008"/>
            <a:ext cx="49377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95000"/>
              </a:lnSpc>
            </a:pPr>
            <a:r>
              <a:rPr sz="3200" b="1" lang="ur-PK">
                <a:solidFill>
                  <a:srgbClr val="15302E"/>
                </a:solidFill>
                <a:latin typeface="Arial"/>
                <a:cs typeface="Arial"/>
              </a:rPr>
              <a:t>دیکھیں آپ کتنا آگے آ گئے</a:t>
            </a:r>
          </a:p>
        </p:txBody>
      </p:sp>
      <p:sp>
        <p:nvSpPr>
          <p:cNvPr id="5" name="Points"/>
          <p:cNvSpPr txBox="1"/>
          <p:nvPr/>
        </p:nvSpPr>
        <p:spPr>
          <a:xfrm>
            <a:off x="6613855" y="2514600"/>
            <a:ext cx="493776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5000"/>
              </a:lnSpc>
              <a:spcAft>
                <a:spcPts val="1400"/>
              </a:spcAft>
            </a:pPr>
            <a:r>
              <a:rPr sz="1800" b="1" lang="ur-PK">
                <a:solidFill>
                  <a:srgbClr val="1F6F62"/>
                </a:solidFill>
                <a:latin typeface="Arial"/>
                <a:cs typeface="Arial"/>
              </a:rPr>
              <a:t>آیات کی مشق کریں اور قرآن میں اپنا حصہ بڑھتا دیکھیں۔</a:t>
            </a:r>
          </a:p>
          <a:p>
            <a:pPr algn="r" rtl="1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ur-PK">
                <a:solidFill>
                  <a:srgbClr val="15302E"/>
                </a:solidFill>
                <a:latin typeface="Arial"/>
                <a:cs typeface="Arial"/>
              </a:rPr>
              <a:t>ہر لفظ کا معنی چنیں۔ غلط جواب آخر میں دوبارہ آتے ہیں۔</a:t>
            </a:r>
          </a:p>
          <a:p>
            <a:pPr algn="r" rtl="1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ur-PK">
                <a:solidFill>
                  <a:srgbClr val="15302E"/>
                </a:solidFill>
                <a:latin typeface="Arial"/>
                <a:cs typeface="Arial"/>
              </a:rPr>
              <a:t>3 صحیح جواب، اور لفظ آپ کا، قرآن میں جہاں بھی آئے۔</a:t>
            </a:r>
          </a:p>
          <a:p>
            <a:pPr algn="r" rtl="1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ur-PK">
                <a:solidFill>
                  <a:srgbClr val="15302E"/>
                </a:solidFill>
                <a:latin typeface="Arial"/>
                <a:cs typeface="Arial"/>
              </a:rPr>
              <a:t>ہر سورت کی، اور پورے قرآن کی پیش رفت۔</a:t>
            </a:r>
          </a:p>
        </p:txBody>
      </p:sp>
      <p:sp>
        <p:nvSpPr>
          <p:cNvPr id="6" name="Phone shadow"/>
          <p:cNvSpPr/>
          <p:nvPr/>
        </p:nvSpPr>
        <p:spPr>
          <a:xfrm>
            <a:off x="3450031" y="621792"/>
            <a:ext cx="2651760" cy="5038344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Screenshot quiz" descr="quiz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4895" y="548640"/>
            <a:ext cx="2651760" cy="5038344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8" name="Phone shadow"/>
          <p:cNvSpPr/>
          <p:nvPr/>
        </p:nvSpPr>
        <p:spPr>
          <a:xfrm>
            <a:off x="523951" y="1033272"/>
            <a:ext cx="2651760" cy="5038344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Screenshot progress" descr="progres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815" y="960120"/>
            <a:ext cx="2651760" cy="5038344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10" name="Footer"/>
          <p:cNvSpPr txBox="1"/>
          <p:nvPr/>
        </p:nvSpPr>
        <p:spPr>
          <a:xfrm>
            <a:off x="3779215" y="6419088"/>
            <a:ext cx="7772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/>
            <a:r>
              <a:rPr sz="1050" b="0" lang="ur-PK">
                <a:solidFill>
                  <a:srgbClr val="5D716E"/>
                </a:solidFill>
                <a:latin typeface="Arial"/>
                <a:cs typeface="Arial"/>
              </a:rPr>
              <a:t>مفت · غیر تجارتی · </a:t>
            </a:r>
            <a:r>
              <a:rPr sz="1050" b="0" lang="en-US">
                <a:solidFill>
                  <a:srgbClr val="5D716E"/>
                </a:solidFill>
                <a:latin typeface="Arial"/>
                <a:cs typeface="Arial"/>
              </a:rPr>
              <a:t>marshadkc.github.io/quranreader</a:t>
            </a:r>
          </a:p>
        </p:txBody>
      </p:sp>
      <p:sp>
        <p:nvSpPr>
          <p:cNvPr id="11" name="Slide number"/>
          <p:cNvSpPr txBox="1"/>
          <p:nvPr/>
        </p:nvSpPr>
        <p:spPr>
          <a:xfrm>
            <a:off x="640080" y="641908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lang="en-US">
                <a:solidFill>
                  <a:srgbClr val="5D716E"/>
                </a:solidFill>
                <a:latin typeface="Arial"/>
                <a:cs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 badge"/>
          <p:cNvSpPr/>
          <p:nvPr/>
        </p:nvSpPr>
        <p:spPr>
          <a:xfrm>
            <a:off x="11019068" y="566928"/>
            <a:ext cx="532546" cy="475488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US">
                <a:solidFill>
                  <a:srgbClr val="FFFFFF"/>
                </a:solidFill>
                <a:latin typeface="Arial"/>
                <a:cs typeface="Arial"/>
              </a:rPr>
              <a:t>08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7253935" y="566928"/>
            <a:ext cx="3611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/>
            <a:r>
              <a:rPr sz="1300" b="1" lang="ur-PK">
                <a:solidFill>
                  <a:srgbClr val="B8740F"/>
                </a:solidFill>
                <a:latin typeface="Arial"/>
                <a:cs typeface="Arial"/>
              </a:rPr>
              <a:t>کھیل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7208215" y="1207008"/>
            <a:ext cx="43434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95000"/>
              </a:lnSpc>
            </a:pPr>
            <a:r>
              <a:rPr sz="3200" b="1" lang="ur-PK">
                <a:solidFill>
                  <a:srgbClr val="15302E"/>
                </a:solidFill>
                <a:latin typeface="Arial"/>
                <a:cs typeface="Arial"/>
              </a:rPr>
              <a:t>سیکھنا جو کھیل جیسا لگے</a:t>
            </a:r>
          </a:p>
        </p:txBody>
      </p:sp>
      <p:sp>
        <p:nvSpPr>
          <p:cNvPr id="5" name="Points"/>
          <p:cNvSpPr txBox="1"/>
          <p:nvPr/>
        </p:nvSpPr>
        <p:spPr>
          <a:xfrm>
            <a:off x="7208215" y="2514600"/>
            <a:ext cx="434340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5000"/>
              </a:lnSpc>
              <a:spcAft>
                <a:spcPts val="1400"/>
              </a:spcAft>
            </a:pPr>
            <a:r>
              <a:rPr sz="1800" b="1" lang="ur-PK">
                <a:solidFill>
                  <a:srgbClr val="1F6F62"/>
                </a:solidFill>
                <a:latin typeface="Arial"/>
                <a:cs typeface="Arial"/>
              </a:rPr>
              <a:t>تین کوئز اور شہد کا مرتبان آپ کو بار بار واپس لاتے ہیں۔</a:t>
            </a:r>
          </a:p>
          <a:p>
            <a:pPr algn="r" rtl="1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ur-PK">
                <a:solidFill>
                  <a:srgbClr val="15302E"/>
                </a:solidFill>
                <a:latin typeface="Arial"/>
                <a:cs typeface="Arial"/>
              </a:rPr>
              <a:t>شہد کا چھتا: آیت کے الفاظ کا جواب دے کر چھتا پار کریں۔</a:t>
            </a:r>
          </a:p>
          <a:p>
            <a:pPr algn="r" rtl="1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en-US">
                <a:solidFill>
                  <a:srgbClr val="15302E"/>
                </a:solidFill>
                <a:latin typeface="Arial"/>
                <a:cs typeface="Arial"/>
              </a:rPr>
              <a:t>Root challenge: </a:t>
            </a:r>
            <a:r>
              <a:rPr sz="1600" b="0" lang="ur-PK">
                <a:solidFill>
                  <a:srgbClr val="15302E"/>
                </a:solidFill>
                <a:latin typeface="Arial"/>
                <a:cs typeface="Arial"/>
              </a:rPr>
              <a:t>ہر لفظ کا مادہ اور اس کا گہرا معنی تلاش کریں۔</a:t>
            </a:r>
          </a:p>
          <a:p>
            <a:pPr algn="r" rtl="1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en-US">
                <a:solidFill>
                  <a:srgbClr val="15302E"/>
                </a:solidFill>
                <a:latin typeface="Arial"/>
                <a:cs typeface="Arial"/>
              </a:rPr>
              <a:t>Form Switch: </a:t>
            </a:r>
            <a:r>
              <a:rPr sz="1600" b="0" lang="ur-PK">
                <a:solidFill>
                  <a:srgbClr val="15302E"/>
                </a:solidFill>
                <a:latin typeface="Arial"/>
                <a:cs typeface="Arial"/>
              </a:rPr>
              <a:t>فعل یا اسم کو دوسری صورت میں بدلیں۔</a:t>
            </a:r>
          </a:p>
        </p:txBody>
      </p:sp>
      <p:sp>
        <p:nvSpPr>
          <p:cNvPr id="6" name="Phone shadow"/>
          <p:cNvSpPr/>
          <p:nvPr/>
        </p:nvSpPr>
        <p:spPr>
          <a:xfrm>
            <a:off x="4775911" y="941832"/>
            <a:ext cx="2103120" cy="4163099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Screenshot honey" descr="hone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0775" y="868680"/>
            <a:ext cx="2103120" cy="4163099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8" name="Phone shadow"/>
          <p:cNvSpPr/>
          <p:nvPr/>
        </p:nvSpPr>
        <p:spPr>
          <a:xfrm>
            <a:off x="2553919" y="576072"/>
            <a:ext cx="2103120" cy="4163099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Screenshot rootq" descr="rootq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8783" y="502920"/>
            <a:ext cx="2103120" cy="4163099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10" name="Phone shadow"/>
          <p:cNvSpPr/>
          <p:nvPr/>
        </p:nvSpPr>
        <p:spPr>
          <a:xfrm>
            <a:off x="331927" y="1307592"/>
            <a:ext cx="2103120" cy="4163099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Screenshot formq" descr="formq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791" y="1234440"/>
            <a:ext cx="2103120" cy="4163099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12" name="Footer"/>
          <p:cNvSpPr txBox="1"/>
          <p:nvPr/>
        </p:nvSpPr>
        <p:spPr>
          <a:xfrm>
            <a:off x="3779215" y="6419088"/>
            <a:ext cx="7772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/>
            <a:r>
              <a:rPr sz="1050" b="0" lang="ur-PK">
                <a:solidFill>
                  <a:srgbClr val="5D716E"/>
                </a:solidFill>
                <a:latin typeface="Arial"/>
                <a:cs typeface="Arial"/>
              </a:rPr>
              <a:t>مفت · غیر تجارتی · </a:t>
            </a:r>
            <a:r>
              <a:rPr sz="1050" b="0" lang="en-US">
                <a:solidFill>
                  <a:srgbClr val="5D716E"/>
                </a:solidFill>
                <a:latin typeface="Arial"/>
                <a:cs typeface="Arial"/>
              </a:rPr>
              <a:t>marshadkc.github.io/quranreader</a:t>
            </a:r>
          </a:p>
        </p:txBody>
      </p:sp>
      <p:sp>
        <p:nvSpPr>
          <p:cNvPr id="13" name="Slide number"/>
          <p:cNvSpPr txBox="1"/>
          <p:nvPr/>
        </p:nvSpPr>
        <p:spPr>
          <a:xfrm>
            <a:off x="640080" y="641908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lang="en-US">
                <a:solidFill>
                  <a:srgbClr val="5D716E"/>
                </a:solidFill>
                <a:latin typeface="Arial"/>
                <a:cs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 badge"/>
          <p:cNvSpPr/>
          <p:nvPr/>
        </p:nvSpPr>
        <p:spPr>
          <a:xfrm>
            <a:off x="11019068" y="566928"/>
            <a:ext cx="532546" cy="475488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US">
                <a:solidFill>
                  <a:srgbClr val="FFFFFF"/>
                </a:solidFill>
                <a:latin typeface="Arial"/>
                <a:cs typeface="Arial"/>
              </a:rPr>
              <a:t>09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7116775" y="566928"/>
            <a:ext cx="3749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/>
            <a:r>
              <a:rPr sz="1300" b="1" lang="ur-PK">
                <a:solidFill>
                  <a:srgbClr val="B8740F"/>
                </a:solidFill>
                <a:latin typeface="Arial"/>
                <a:cs typeface="Arial"/>
              </a:rPr>
              <a:t>کلاس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7071055" y="1207008"/>
            <a:ext cx="44805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95000"/>
              </a:lnSpc>
            </a:pPr>
            <a:r>
              <a:rPr sz="3200" b="1" lang="ur-PK">
                <a:solidFill>
                  <a:srgbClr val="15302E"/>
                </a:solidFill>
                <a:latin typeface="Arial"/>
                <a:cs typeface="Arial"/>
              </a:rPr>
              <a:t>کلاس روم کے لیے بنائی گئی</a:t>
            </a:r>
          </a:p>
        </p:txBody>
      </p:sp>
      <p:sp>
        <p:nvSpPr>
          <p:cNvPr id="5" name="Points"/>
          <p:cNvSpPr txBox="1"/>
          <p:nvPr/>
        </p:nvSpPr>
        <p:spPr>
          <a:xfrm>
            <a:off x="7071055" y="2514600"/>
            <a:ext cx="448056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5000"/>
              </a:lnSpc>
              <a:spcAft>
                <a:spcPts val="1400"/>
              </a:spcAft>
            </a:pPr>
            <a:r>
              <a:rPr sz="1800" b="1" lang="ur-PK">
                <a:solidFill>
                  <a:srgbClr val="1F6F62"/>
                </a:solidFill>
                <a:latin typeface="Arial"/>
                <a:cs typeface="Arial"/>
              </a:rPr>
              <a:t>کلاس کی اسکرین کے لیے ٹیم گیم، اور ہر کلاس کا الگ پروفائل۔</a:t>
            </a:r>
          </a:p>
          <a:p>
            <a:pPr algn="r" rtl="1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ur-PK">
                <a:solidFill>
                  <a:srgbClr val="15302E"/>
                </a:solidFill>
                <a:latin typeface="Arial"/>
                <a:cs typeface="Arial"/>
              </a:rPr>
              <a:t>دو ٹیمیں 37 خانوں کے چھتے پر مقابلہ کرتی ہیں اور صحیح جواب سے خانے چھینتی ہیں۔</a:t>
            </a:r>
          </a:p>
          <a:p>
            <a:pPr algn="r" rtl="1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ur-PK">
                <a:solidFill>
                  <a:srgbClr val="15302E"/>
                </a:solidFill>
                <a:latin typeface="Arial"/>
                <a:cs typeface="Arial"/>
              </a:rPr>
              <a:t>ہر خانہ اپنے لفظ کا پہلا حرف بطور اشارہ دکھاتا ہے۔</a:t>
            </a:r>
          </a:p>
          <a:p>
            <a:pPr algn="r" rtl="1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ur-PK">
                <a:solidFill>
                  <a:srgbClr val="15302E"/>
                </a:solidFill>
                <a:latin typeface="Arial"/>
                <a:cs typeface="Arial"/>
              </a:rPr>
              <a:t>سبق کے بعد کلاس کی پیش رفت صاف کریں۔</a:t>
            </a:r>
          </a:p>
        </p:txBody>
      </p:sp>
      <p:sp>
        <p:nvSpPr>
          <p:cNvPr id="6" name="Window shadow"/>
          <p:cNvSpPr/>
          <p:nvPr/>
        </p:nvSpPr>
        <p:spPr>
          <a:xfrm>
            <a:off x="1566367" y="996696"/>
            <a:ext cx="5120640" cy="3295903"/>
          </a:xfrm>
          <a:prstGeom prst="roundRect">
            <a:avLst>
              <a:gd name="adj" fmla="val 3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Window frame"/>
          <p:cNvSpPr/>
          <p:nvPr/>
        </p:nvSpPr>
        <p:spPr>
          <a:xfrm>
            <a:off x="1630375" y="914400"/>
            <a:ext cx="5120640" cy="3295903"/>
          </a:xfrm>
          <a:prstGeom prst="roundRect">
            <a:avLst>
              <a:gd name="adj" fmla="val 3000"/>
            </a:avLst>
          </a:prstGeom>
          <a:solidFill>
            <a:srgbClr val="153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Window dot"/>
          <p:cNvSpPr/>
          <p:nvPr/>
        </p:nvSpPr>
        <p:spPr>
          <a:xfrm>
            <a:off x="6531559" y="987552"/>
            <a:ext cx="91440" cy="91440"/>
          </a:xfrm>
          <a:prstGeom prst="ellipse">
            <a:avLst/>
          </a:prstGeom>
          <a:solidFill>
            <a:srgbClr val="E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Window dot"/>
          <p:cNvSpPr/>
          <p:nvPr/>
        </p:nvSpPr>
        <p:spPr>
          <a:xfrm>
            <a:off x="6366967" y="987552"/>
            <a:ext cx="91440" cy="91440"/>
          </a:xfrm>
          <a:prstGeom prst="ellipse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Window dot"/>
          <p:cNvSpPr/>
          <p:nvPr/>
        </p:nvSpPr>
        <p:spPr>
          <a:xfrm>
            <a:off x="6202375" y="987552"/>
            <a:ext cx="91440" cy="91440"/>
          </a:xfrm>
          <a:prstGeom prst="ellipse">
            <a:avLst/>
          </a:prstGeom>
          <a:solidFill>
            <a:srgbClr val="6CC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Screenshot deskteams" descr="deskteam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7807" y="1152144"/>
            <a:ext cx="5065776" cy="3021583"/>
          </a:xfrm>
          <a:prstGeom prst="rect">
            <a:avLst/>
          </a:prstGeom>
        </p:spPr>
      </p:pic>
      <p:sp>
        <p:nvSpPr>
          <p:cNvPr id="12" name="Phone shadow"/>
          <p:cNvSpPr/>
          <p:nvPr/>
        </p:nvSpPr>
        <p:spPr>
          <a:xfrm>
            <a:off x="569671" y="2221992"/>
            <a:ext cx="1920240" cy="3801090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Screenshot teams" descr="team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" y="2148840"/>
            <a:ext cx="1920240" cy="3801090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14" name="Footer"/>
          <p:cNvSpPr txBox="1"/>
          <p:nvPr/>
        </p:nvSpPr>
        <p:spPr>
          <a:xfrm>
            <a:off x="3779215" y="6419088"/>
            <a:ext cx="7772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/>
            <a:r>
              <a:rPr sz="1050" b="0" lang="ur-PK">
                <a:solidFill>
                  <a:srgbClr val="5D716E"/>
                </a:solidFill>
                <a:latin typeface="Arial"/>
                <a:cs typeface="Arial"/>
              </a:rPr>
              <a:t>مفت · غیر تجارتی · </a:t>
            </a:r>
            <a:r>
              <a:rPr sz="1050" b="0" lang="en-US">
                <a:solidFill>
                  <a:srgbClr val="5D716E"/>
                </a:solidFill>
                <a:latin typeface="Arial"/>
                <a:cs typeface="Arial"/>
              </a:rPr>
              <a:t>marshadkc.github.io/quranreader</a:t>
            </a:r>
          </a:p>
        </p:txBody>
      </p:sp>
      <p:sp>
        <p:nvSpPr>
          <p:cNvPr id="15" name="Slide number"/>
          <p:cNvSpPr txBox="1"/>
          <p:nvPr/>
        </p:nvSpPr>
        <p:spPr>
          <a:xfrm>
            <a:off x="640080" y="641908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lang="en-US">
                <a:solidFill>
                  <a:srgbClr val="5D716E"/>
                </a:solidFill>
                <a:latin typeface="Arial"/>
                <a:cs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 badge"/>
          <p:cNvSpPr/>
          <p:nvPr/>
        </p:nvSpPr>
        <p:spPr>
          <a:xfrm>
            <a:off x="11019068" y="566928"/>
            <a:ext cx="532546" cy="475488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US">
                <a:solidFill>
                  <a:srgbClr val="FFFFFF"/>
                </a:solidFill>
                <a:latin typeface="Arial"/>
                <a:cs typeface="Arial"/>
              </a:rPr>
              <a:t>10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6659575" y="566928"/>
            <a:ext cx="4206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/>
            <a:r>
              <a:rPr sz="1300" b="1" lang="ur-PK">
                <a:solidFill>
                  <a:srgbClr val="B8740F"/>
                </a:solidFill>
                <a:latin typeface="Arial"/>
                <a:cs typeface="Arial"/>
              </a:rPr>
              <a:t>مصحف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613855" y="1207008"/>
            <a:ext cx="49377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95000"/>
              </a:lnSpc>
            </a:pPr>
            <a:r>
              <a:rPr sz="3200" b="1" lang="ur-PK">
                <a:solidFill>
                  <a:srgbClr val="15302E"/>
                </a:solidFill>
                <a:latin typeface="Arial"/>
                <a:cs typeface="Arial"/>
              </a:rPr>
              <a:t>اصل مصحف پڑھیں، رنگوں کے ساتھ</a:t>
            </a:r>
          </a:p>
        </p:txBody>
      </p:sp>
      <p:sp>
        <p:nvSpPr>
          <p:cNvPr id="5" name="Points"/>
          <p:cNvSpPr txBox="1"/>
          <p:nvPr/>
        </p:nvSpPr>
        <p:spPr>
          <a:xfrm>
            <a:off x="6613855" y="2514600"/>
            <a:ext cx="493776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5000"/>
              </a:lnSpc>
              <a:spcAft>
                <a:spcPts val="1400"/>
              </a:spcAft>
            </a:pPr>
            <a:r>
              <a:rPr sz="1800" b="1" lang="ur-PK">
                <a:solidFill>
                  <a:srgbClr val="1F6F62"/>
                </a:solidFill>
                <a:latin typeface="Arial"/>
                <a:cs typeface="Arial"/>
              </a:rPr>
              <a:t>انڈو پاک 15 سطری حفظ والا مصحف، تجوید کے رنگوں کے ساتھ۔</a:t>
            </a:r>
          </a:p>
          <a:p>
            <a:pPr algn="r" rtl="1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ur-PK">
                <a:solidFill>
                  <a:srgbClr val="15302E"/>
                </a:solidFill>
                <a:latin typeface="Arial"/>
                <a:cs typeface="Arial"/>
              </a:rPr>
              <a:t>610 صفحات، اور ہر صفحہ آیت پر ختم ہوتا ہے۔</a:t>
            </a:r>
          </a:p>
          <a:p>
            <a:pPr algn="r" rtl="1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ur-PK">
                <a:solidFill>
                  <a:srgbClr val="15302E"/>
                </a:solidFill>
                <a:latin typeface="Arial"/>
                <a:cs typeface="Arial"/>
              </a:rPr>
              <a:t>تجوید کے ہر رنگ کی رہنمائی، مثالوں کے ساتھ۔</a:t>
            </a:r>
          </a:p>
          <a:p>
            <a:pPr algn="r" rtl="1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ur-PK">
                <a:solidFill>
                  <a:srgbClr val="15302E"/>
                </a:solidFill>
                <a:latin typeface="Arial"/>
                <a:cs typeface="Arial"/>
              </a:rPr>
              <a:t>صفحے پر کسی بھی لفظ پر ٹیپ کریں اور اس کا معنی دیکھیں۔</a:t>
            </a:r>
          </a:p>
        </p:txBody>
      </p:sp>
      <p:sp>
        <p:nvSpPr>
          <p:cNvPr id="6" name="Phone shadow"/>
          <p:cNvSpPr/>
          <p:nvPr/>
        </p:nvSpPr>
        <p:spPr>
          <a:xfrm>
            <a:off x="3450031" y="621792"/>
            <a:ext cx="2651760" cy="4473919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Screenshot mushaf" descr="musha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4895" y="548640"/>
            <a:ext cx="2651760" cy="4473919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8" name="Phone shadow"/>
          <p:cNvSpPr/>
          <p:nvPr/>
        </p:nvSpPr>
        <p:spPr>
          <a:xfrm>
            <a:off x="523951" y="1033272"/>
            <a:ext cx="2651760" cy="5038344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Screenshot tajweed" descr="tajwee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815" y="960120"/>
            <a:ext cx="2651760" cy="5038344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10" name="Footer"/>
          <p:cNvSpPr txBox="1"/>
          <p:nvPr/>
        </p:nvSpPr>
        <p:spPr>
          <a:xfrm>
            <a:off x="3779215" y="6419088"/>
            <a:ext cx="7772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/>
            <a:r>
              <a:rPr sz="1050" b="0" lang="ur-PK">
                <a:solidFill>
                  <a:srgbClr val="5D716E"/>
                </a:solidFill>
                <a:latin typeface="Arial"/>
                <a:cs typeface="Arial"/>
              </a:rPr>
              <a:t>مفت · غیر تجارتی · </a:t>
            </a:r>
            <a:r>
              <a:rPr sz="1050" b="0" lang="en-US">
                <a:solidFill>
                  <a:srgbClr val="5D716E"/>
                </a:solidFill>
                <a:latin typeface="Arial"/>
                <a:cs typeface="Arial"/>
              </a:rPr>
              <a:t>marshadkc.github.io/quranreader</a:t>
            </a:r>
          </a:p>
        </p:txBody>
      </p:sp>
      <p:sp>
        <p:nvSpPr>
          <p:cNvPr id="11" name="Slide number"/>
          <p:cNvSpPr txBox="1"/>
          <p:nvPr/>
        </p:nvSpPr>
        <p:spPr>
          <a:xfrm>
            <a:off x="640080" y="641908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lang="en-US">
                <a:solidFill>
                  <a:srgbClr val="5D716E"/>
                </a:solidFill>
                <a:latin typeface="Arial"/>
                <a:cs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 badge"/>
          <p:cNvSpPr/>
          <p:nvPr/>
        </p:nvSpPr>
        <p:spPr>
          <a:xfrm>
            <a:off x="11019068" y="566928"/>
            <a:ext cx="532546" cy="475488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US">
                <a:solidFill>
                  <a:srgbClr val="FFFFFF"/>
                </a:solidFill>
                <a:latin typeface="Arial"/>
                <a:cs typeface="Arial"/>
              </a:rPr>
              <a:t>11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7253935" y="566928"/>
            <a:ext cx="3611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/>
            <a:r>
              <a:rPr sz="1300" b="1" lang="ur-PK">
                <a:solidFill>
                  <a:srgbClr val="B8740F"/>
                </a:solidFill>
                <a:latin typeface="Arial"/>
                <a:cs typeface="Arial"/>
              </a:rPr>
              <a:t>شانِ نزول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7208215" y="1207008"/>
            <a:ext cx="43434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95000"/>
              </a:lnSpc>
            </a:pPr>
            <a:r>
              <a:rPr sz="3200" b="1" lang="ur-PK">
                <a:solidFill>
                  <a:srgbClr val="15302E"/>
                </a:solidFill>
                <a:latin typeface="Arial"/>
                <a:cs typeface="Arial"/>
              </a:rPr>
              <a:t>آیت کے پیچھے کا واقعہ</a:t>
            </a:r>
          </a:p>
        </p:txBody>
      </p:sp>
      <p:sp>
        <p:nvSpPr>
          <p:cNvPr id="5" name="Points"/>
          <p:cNvSpPr txBox="1"/>
          <p:nvPr/>
        </p:nvSpPr>
        <p:spPr>
          <a:xfrm>
            <a:off x="7208215" y="2514600"/>
            <a:ext cx="434340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5000"/>
              </a:lnSpc>
              <a:spcAft>
                <a:spcPts val="1400"/>
              </a:spcAft>
            </a:pPr>
            <a:r>
              <a:rPr sz="1800" b="1" lang="en-US">
                <a:solidFill>
                  <a:srgbClr val="1F6F62"/>
                </a:solidFill>
                <a:latin typeface="Arial"/>
                <a:cs typeface="Arial"/>
              </a:rPr>
              <a:t>📜 Why revealed </a:t>
            </a:r>
            <a:r>
              <a:rPr sz="1800" b="1" lang="ur-PK">
                <a:solidFill>
                  <a:srgbClr val="1F6F62"/>
                </a:solidFill>
                <a:latin typeface="Arial"/>
                <a:cs typeface="Arial"/>
              </a:rPr>
              <a:t>دبائیں اور پڑھیں کہ آیت کس موقع پر نازل ہوئی۔</a:t>
            </a:r>
          </a:p>
          <a:p>
            <a:pPr algn="r" rtl="1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ur-PK">
                <a:solidFill>
                  <a:srgbClr val="15302E"/>
                </a:solidFill>
                <a:latin typeface="Arial"/>
                <a:cs typeface="Arial"/>
              </a:rPr>
              <a:t>صرف صحیح روایات، امام سیوطیؒ کی لباب النقول سے۔</a:t>
            </a:r>
          </a:p>
          <a:p>
            <a:pPr algn="r" rtl="1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ur-PK">
                <a:solidFill>
                  <a:srgbClr val="15302E"/>
                </a:solidFill>
                <a:latin typeface="Arial"/>
                <a:cs typeface="Arial"/>
              </a:rPr>
              <a:t>ہر روایت کا درجہ ساتھ لکھا ہے، جیسے صحیح: بخاری و مسلم۔</a:t>
            </a:r>
          </a:p>
          <a:p>
            <a:pPr algn="r" rtl="1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ur-PK">
                <a:solidFill>
                  <a:srgbClr val="15302E"/>
                </a:solidFill>
                <a:latin typeface="Arial"/>
                <a:cs typeface="Arial"/>
              </a:rPr>
              <a:t>اردو، انگریزی یا ہندی میں پڑھیں۔ عربی متن ایک ٹیپ پر۔</a:t>
            </a:r>
          </a:p>
        </p:txBody>
      </p:sp>
      <p:sp>
        <p:nvSpPr>
          <p:cNvPr id="6" name="Phone shadow"/>
          <p:cNvSpPr/>
          <p:nvPr/>
        </p:nvSpPr>
        <p:spPr>
          <a:xfrm>
            <a:off x="4775911" y="941832"/>
            <a:ext cx="2103120" cy="4163099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Screenshot why" descr="wh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0775" y="868680"/>
            <a:ext cx="2103120" cy="4163099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8" name="Phone shadow"/>
          <p:cNvSpPr/>
          <p:nvPr/>
        </p:nvSpPr>
        <p:spPr>
          <a:xfrm>
            <a:off x="2553919" y="576072"/>
            <a:ext cx="2103120" cy="4163099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Screenshot whypanel" descr="whypane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8783" y="502920"/>
            <a:ext cx="2103120" cy="4163099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10" name="Phone shadow"/>
          <p:cNvSpPr/>
          <p:nvPr/>
        </p:nvSpPr>
        <p:spPr>
          <a:xfrm>
            <a:off x="331927" y="1307592"/>
            <a:ext cx="2103120" cy="4163099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Screenshot whyar" descr="why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791" y="1234440"/>
            <a:ext cx="2103120" cy="4163099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12" name="Footer"/>
          <p:cNvSpPr txBox="1"/>
          <p:nvPr/>
        </p:nvSpPr>
        <p:spPr>
          <a:xfrm>
            <a:off x="3779215" y="6419088"/>
            <a:ext cx="7772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/>
            <a:r>
              <a:rPr sz="1050" b="0" lang="ur-PK">
                <a:solidFill>
                  <a:srgbClr val="5D716E"/>
                </a:solidFill>
                <a:latin typeface="Arial"/>
                <a:cs typeface="Arial"/>
              </a:rPr>
              <a:t>مفت · غیر تجارتی · </a:t>
            </a:r>
            <a:r>
              <a:rPr sz="1050" b="0" lang="en-US">
                <a:solidFill>
                  <a:srgbClr val="5D716E"/>
                </a:solidFill>
                <a:latin typeface="Arial"/>
                <a:cs typeface="Arial"/>
              </a:rPr>
              <a:t>marshadkc.github.io/quranreader</a:t>
            </a:r>
          </a:p>
        </p:txBody>
      </p:sp>
      <p:sp>
        <p:nvSpPr>
          <p:cNvPr id="13" name="Slide number"/>
          <p:cNvSpPr txBox="1"/>
          <p:nvPr/>
        </p:nvSpPr>
        <p:spPr>
          <a:xfrm>
            <a:off x="640080" y="641908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lang="en-US">
                <a:solidFill>
                  <a:srgbClr val="5D716E"/>
                </a:solidFill>
                <a:latin typeface="Arial"/>
                <a:cs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 badge"/>
          <p:cNvSpPr/>
          <p:nvPr/>
        </p:nvSpPr>
        <p:spPr>
          <a:xfrm>
            <a:off x="11019068" y="566928"/>
            <a:ext cx="532546" cy="475488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US">
                <a:solidFill>
                  <a:srgbClr val="FFFFFF"/>
                </a:solidFill>
                <a:latin typeface="Arial"/>
                <a:cs typeface="Arial"/>
              </a:rPr>
              <a:t>12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6659575" y="566928"/>
            <a:ext cx="4206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/>
            <a:r>
              <a:rPr sz="1300" b="1" lang="ur-PK">
                <a:solidFill>
                  <a:srgbClr val="B8740F"/>
                </a:solidFill>
                <a:latin typeface="Arial"/>
                <a:cs typeface="Arial"/>
              </a:rPr>
              <a:t>ہندی حروف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613855" y="1207008"/>
            <a:ext cx="49377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95000"/>
              </a:lnSpc>
            </a:pPr>
            <a:r>
              <a:rPr sz="3200" b="1" lang="ur-PK">
                <a:solidFill>
                  <a:srgbClr val="15302E"/>
                </a:solidFill>
                <a:latin typeface="Arial"/>
                <a:cs typeface="Arial"/>
              </a:rPr>
              <a:t>ابھی عربی حروف نہیں آتے؟ پھر بھی شروع کریں۔</a:t>
            </a:r>
          </a:p>
        </p:txBody>
      </p:sp>
      <p:sp>
        <p:nvSpPr>
          <p:cNvPr id="5" name="Points"/>
          <p:cNvSpPr txBox="1"/>
          <p:nvPr/>
        </p:nvSpPr>
        <p:spPr>
          <a:xfrm>
            <a:off x="6613855" y="2514600"/>
            <a:ext cx="493776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5000"/>
              </a:lnSpc>
              <a:spcAft>
                <a:spcPts val="1400"/>
              </a:spcAft>
            </a:pPr>
            <a:r>
              <a:rPr sz="1800" b="1" lang="ur-PK">
                <a:solidFill>
                  <a:srgbClr val="1F6F62"/>
                </a:solidFill>
                <a:latin typeface="Arial"/>
                <a:cs typeface="Arial"/>
              </a:rPr>
              <a:t>ہر لفظ ہندی حروف میں دکھایا جا سکتا ہے، اکیلا یا عربی کے نیچے۔</a:t>
            </a:r>
          </a:p>
          <a:p>
            <a:pPr algn="r" rtl="1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ur-PK">
                <a:solidFill>
                  <a:srgbClr val="15302E"/>
                </a:solidFill>
                <a:latin typeface="Arial"/>
                <a:cs typeface="Arial"/>
              </a:rPr>
              <a:t>ٱلَّذِينَ کو </a:t>
            </a:r>
            <a:r>
              <a:rPr sz="1600" b="0" lang="hi-IN">
                <a:solidFill>
                  <a:srgbClr val="15302E"/>
                </a:solidFill>
                <a:latin typeface="Arial"/>
                <a:cs typeface="Nirmala UI"/>
              </a:rPr>
              <a:t>अल्लज़ी-न </a:t>
            </a:r>
            <a:r>
              <a:rPr sz="1600" b="0" lang="ur-PK">
                <a:solidFill>
                  <a:srgbClr val="15302E"/>
                </a:solidFill>
                <a:latin typeface="Arial"/>
                <a:cs typeface="Arial"/>
              </a:rPr>
              <a:t>لکھا جاتا ہے۔ "-" اس زبر کو ظاہر کرتا ہے جو پڑھا جاتا ہے۔</a:t>
            </a:r>
          </a:p>
          <a:p>
            <a:pPr algn="r" rtl="1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ur-PK">
                <a:solidFill>
                  <a:srgbClr val="15302E"/>
                </a:solidFill>
                <a:latin typeface="Arial"/>
                <a:cs typeface="Arial"/>
              </a:rPr>
              <a:t>آیت کا آخری لفظ وقف کے ساتھ لکھا جاتا ہے: </a:t>
            </a:r>
            <a:r>
              <a:rPr sz="1600" b="0" lang="hi-IN">
                <a:solidFill>
                  <a:srgbClr val="15302E"/>
                </a:solidFill>
                <a:latin typeface="Arial"/>
                <a:cs typeface="Nirmala UI"/>
              </a:rPr>
              <a:t>लिल्मुत्तक़ीन</a:t>
            </a:r>
          </a:p>
          <a:p>
            <a:pPr algn="r" rtl="1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ur-PK">
                <a:solidFill>
                  <a:srgbClr val="15302E"/>
                </a:solidFill>
                <a:latin typeface="Arial"/>
                <a:cs typeface="Arial"/>
              </a:rPr>
              <a:t>کوئز بھی ہندی حروف میں آ جاتے ہیں۔</a:t>
            </a:r>
          </a:p>
        </p:txBody>
      </p:sp>
      <p:sp>
        <p:nvSpPr>
          <p:cNvPr id="6" name="Phone shadow"/>
          <p:cNvSpPr/>
          <p:nvPr/>
        </p:nvSpPr>
        <p:spPr>
          <a:xfrm>
            <a:off x="3450031" y="621792"/>
            <a:ext cx="2651760" cy="5038344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Screenshot hindi" descr="hind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4895" y="548640"/>
            <a:ext cx="2651760" cy="5038344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8" name="Phone shadow"/>
          <p:cNvSpPr/>
          <p:nvPr/>
        </p:nvSpPr>
        <p:spPr>
          <a:xfrm>
            <a:off x="523951" y="1033272"/>
            <a:ext cx="2651760" cy="5038344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Screenshot hquiz" descr="hquiz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815" y="960120"/>
            <a:ext cx="2651760" cy="5038344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10" name="Footer"/>
          <p:cNvSpPr txBox="1"/>
          <p:nvPr/>
        </p:nvSpPr>
        <p:spPr>
          <a:xfrm>
            <a:off x="3779215" y="6419088"/>
            <a:ext cx="7772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/>
            <a:r>
              <a:rPr sz="1050" b="0" lang="ur-PK">
                <a:solidFill>
                  <a:srgbClr val="5D716E"/>
                </a:solidFill>
                <a:latin typeface="Arial"/>
                <a:cs typeface="Arial"/>
              </a:rPr>
              <a:t>مفت · غیر تجارتی · </a:t>
            </a:r>
            <a:r>
              <a:rPr sz="1050" b="0" lang="en-US">
                <a:solidFill>
                  <a:srgbClr val="5D716E"/>
                </a:solidFill>
                <a:latin typeface="Arial"/>
                <a:cs typeface="Arial"/>
              </a:rPr>
              <a:t>marshadkc.github.io/quranreader</a:t>
            </a:r>
          </a:p>
        </p:txBody>
      </p:sp>
      <p:sp>
        <p:nvSpPr>
          <p:cNvPr id="11" name="Slide number"/>
          <p:cNvSpPr txBox="1"/>
          <p:nvPr/>
        </p:nvSpPr>
        <p:spPr>
          <a:xfrm>
            <a:off x="640080" y="641908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lang="en-US">
                <a:solidFill>
                  <a:srgbClr val="5D716E"/>
                </a:solidFill>
                <a:latin typeface="Arial"/>
                <a:cs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 badge"/>
          <p:cNvSpPr/>
          <p:nvPr/>
        </p:nvSpPr>
        <p:spPr>
          <a:xfrm>
            <a:off x="11019068" y="566928"/>
            <a:ext cx="532546" cy="475488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US">
                <a:solidFill>
                  <a:srgbClr val="FFFFFF"/>
                </a:solidFill>
                <a:latin typeface="Arial"/>
                <a:cs typeface="Arial"/>
              </a:rPr>
              <a:t>13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7116775" y="566928"/>
            <a:ext cx="3749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/>
            <a:r>
              <a:rPr sz="1300" b="1" lang="ur-PK">
                <a:solidFill>
                  <a:srgbClr val="B8740F"/>
                </a:solidFill>
                <a:latin typeface="Arial"/>
                <a:cs typeface="Arial"/>
              </a:rPr>
              <a:t>ہر جگہ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7071055" y="1207008"/>
            <a:ext cx="44805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95000"/>
              </a:lnSpc>
            </a:pPr>
            <a:r>
              <a:rPr sz="3200" b="1" lang="ur-PK">
                <a:solidFill>
                  <a:srgbClr val="15302E"/>
                </a:solidFill>
                <a:latin typeface="Arial"/>
                <a:cs typeface="Arial"/>
              </a:rPr>
              <a:t>فون، ٹیبلٹ یا کمپیوٹر پر</a:t>
            </a:r>
          </a:p>
        </p:txBody>
      </p:sp>
      <p:sp>
        <p:nvSpPr>
          <p:cNvPr id="5" name="Points"/>
          <p:cNvSpPr txBox="1"/>
          <p:nvPr/>
        </p:nvSpPr>
        <p:spPr>
          <a:xfrm>
            <a:off x="7071055" y="2514600"/>
            <a:ext cx="448056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5000"/>
              </a:lnSpc>
              <a:spcAft>
                <a:spcPts val="1400"/>
              </a:spcAft>
            </a:pPr>
            <a:r>
              <a:rPr sz="1800" b="1" lang="ur-PK">
                <a:solidFill>
                  <a:srgbClr val="1F6F62"/>
                </a:solidFill>
                <a:latin typeface="Arial"/>
                <a:cs typeface="Arial"/>
              </a:rPr>
              <a:t>ایک بار انسٹال کریں اور کہیں بھی پڑھیں، انٹرنیٹ کے بغیر بھی۔</a:t>
            </a:r>
          </a:p>
          <a:p>
            <a:pPr algn="r" rtl="1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ur-PK">
                <a:solidFill>
                  <a:srgbClr val="15302E"/>
                </a:solidFill>
                <a:latin typeface="Arial"/>
                <a:cs typeface="Arial"/>
              </a:rPr>
              <a:t>پہلی بار کے بعد آف لائن چلتی ہے۔</a:t>
            </a:r>
          </a:p>
          <a:p>
            <a:pPr algn="r" rtl="1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ur-PK">
                <a:solidFill>
                  <a:srgbClr val="15302E"/>
                </a:solidFill>
                <a:latin typeface="Arial"/>
                <a:cs typeface="Arial"/>
              </a:rPr>
              <a:t>روشن یا تاریک انداز، فون کی سیٹنگ جو بھی ہو۔</a:t>
            </a:r>
          </a:p>
          <a:p>
            <a:pPr algn="r" rtl="1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ur-PK">
                <a:solidFill>
                  <a:srgbClr val="15302E"/>
                </a:solidFill>
                <a:latin typeface="Arial"/>
                <a:cs typeface="Arial"/>
              </a:rPr>
              <a:t>کمپیوٹر پر ورڈ کارڈ صفحے کے ساتھ کھلتا ہے۔</a:t>
            </a:r>
          </a:p>
        </p:txBody>
      </p:sp>
      <p:sp>
        <p:nvSpPr>
          <p:cNvPr id="6" name="Window shadow"/>
          <p:cNvSpPr/>
          <p:nvPr/>
        </p:nvSpPr>
        <p:spPr>
          <a:xfrm>
            <a:off x="1566367" y="996696"/>
            <a:ext cx="5120640" cy="3295903"/>
          </a:xfrm>
          <a:prstGeom prst="roundRect">
            <a:avLst>
              <a:gd name="adj" fmla="val 3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Window frame"/>
          <p:cNvSpPr/>
          <p:nvPr/>
        </p:nvSpPr>
        <p:spPr>
          <a:xfrm>
            <a:off x="1630375" y="914400"/>
            <a:ext cx="5120640" cy="3295903"/>
          </a:xfrm>
          <a:prstGeom prst="roundRect">
            <a:avLst>
              <a:gd name="adj" fmla="val 3000"/>
            </a:avLst>
          </a:prstGeom>
          <a:solidFill>
            <a:srgbClr val="153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Window dot"/>
          <p:cNvSpPr/>
          <p:nvPr/>
        </p:nvSpPr>
        <p:spPr>
          <a:xfrm>
            <a:off x="6531559" y="987552"/>
            <a:ext cx="91440" cy="91440"/>
          </a:xfrm>
          <a:prstGeom prst="ellipse">
            <a:avLst/>
          </a:prstGeom>
          <a:solidFill>
            <a:srgbClr val="E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Window dot"/>
          <p:cNvSpPr/>
          <p:nvPr/>
        </p:nvSpPr>
        <p:spPr>
          <a:xfrm>
            <a:off x="6366967" y="987552"/>
            <a:ext cx="91440" cy="91440"/>
          </a:xfrm>
          <a:prstGeom prst="ellipse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Window dot"/>
          <p:cNvSpPr/>
          <p:nvPr/>
        </p:nvSpPr>
        <p:spPr>
          <a:xfrm>
            <a:off x="6202375" y="987552"/>
            <a:ext cx="91440" cy="91440"/>
          </a:xfrm>
          <a:prstGeom prst="ellipse">
            <a:avLst/>
          </a:prstGeom>
          <a:solidFill>
            <a:srgbClr val="6CC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Screenshot desk" descr="des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7807" y="1152144"/>
            <a:ext cx="5065776" cy="3021583"/>
          </a:xfrm>
          <a:prstGeom prst="rect">
            <a:avLst/>
          </a:prstGeom>
        </p:spPr>
      </p:pic>
      <p:sp>
        <p:nvSpPr>
          <p:cNvPr id="12" name="Phone shadow"/>
          <p:cNvSpPr/>
          <p:nvPr/>
        </p:nvSpPr>
        <p:spPr>
          <a:xfrm>
            <a:off x="569671" y="2221992"/>
            <a:ext cx="1920240" cy="3801090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Screenshot dark" descr="dar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" y="2148840"/>
            <a:ext cx="1920240" cy="3801090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14" name="Footer"/>
          <p:cNvSpPr txBox="1"/>
          <p:nvPr/>
        </p:nvSpPr>
        <p:spPr>
          <a:xfrm>
            <a:off x="3779215" y="6419088"/>
            <a:ext cx="7772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/>
            <a:r>
              <a:rPr sz="1050" b="0" lang="ur-PK">
                <a:solidFill>
                  <a:srgbClr val="5D716E"/>
                </a:solidFill>
                <a:latin typeface="Arial"/>
                <a:cs typeface="Arial"/>
              </a:rPr>
              <a:t>مفت · غیر تجارتی · </a:t>
            </a:r>
            <a:r>
              <a:rPr sz="1050" b="0" lang="en-US">
                <a:solidFill>
                  <a:srgbClr val="5D716E"/>
                </a:solidFill>
                <a:latin typeface="Arial"/>
                <a:cs typeface="Arial"/>
              </a:rPr>
              <a:t>marshadkc.github.io/quranreader</a:t>
            </a:r>
          </a:p>
        </p:txBody>
      </p:sp>
      <p:sp>
        <p:nvSpPr>
          <p:cNvPr id="15" name="Slide number"/>
          <p:cNvSpPr txBox="1"/>
          <p:nvPr/>
        </p:nvSpPr>
        <p:spPr>
          <a:xfrm>
            <a:off x="640080" y="641908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lang="en-US">
                <a:solidFill>
                  <a:srgbClr val="5D716E"/>
                </a:solidFill>
                <a:latin typeface="Arial"/>
                <a:cs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 badge"/>
          <p:cNvSpPr/>
          <p:nvPr/>
        </p:nvSpPr>
        <p:spPr>
          <a:xfrm>
            <a:off x="11019068" y="566928"/>
            <a:ext cx="532546" cy="475488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US">
                <a:solidFill>
                  <a:srgbClr val="FFFFFF"/>
                </a:solidFill>
                <a:latin typeface="Arial"/>
                <a:cs typeface="Arial"/>
              </a:rPr>
              <a:t>14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1081735" y="566928"/>
            <a:ext cx="97840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/>
            <a:r>
              <a:rPr sz="1300" b="1" lang="ur-PK">
                <a:solidFill>
                  <a:srgbClr val="B8740F"/>
                </a:solidFill>
                <a:latin typeface="Arial"/>
                <a:cs typeface="Arial"/>
              </a:rPr>
              <a:t>کس کے لیے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1036015" y="1207008"/>
            <a:ext cx="105156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95000"/>
              </a:lnSpc>
            </a:pPr>
            <a:r>
              <a:rPr sz="3200" b="1" lang="ur-PK">
                <a:solidFill>
                  <a:srgbClr val="15302E"/>
                </a:solidFill>
                <a:latin typeface="Arial"/>
                <a:cs typeface="Arial"/>
              </a:rPr>
              <a:t>قرآن سے محبت کرنے والے ہر شخص کے لیے</a:t>
            </a:r>
          </a:p>
        </p:txBody>
      </p:sp>
      <p:sp>
        <p:nvSpPr>
          <p:cNvPr id="5" name="Card 1"/>
          <p:cNvSpPr/>
          <p:nvPr/>
        </p:nvSpPr>
        <p:spPr>
          <a:xfrm>
            <a:off x="8122615" y="2377440"/>
            <a:ext cx="342900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ard mark"/>
          <p:cNvSpPr/>
          <p:nvPr/>
        </p:nvSpPr>
        <p:spPr>
          <a:xfrm>
            <a:off x="10892881" y="2651760"/>
            <a:ext cx="430133" cy="384048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ard title"/>
          <p:cNvSpPr txBox="1"/>
          <p:nvPr/>
        </p:nvSpPr>
        <p:spPr>
          <a:xfrm>
            <a:off x="8351215" y="2633472"/>
            <a:ext cx="24231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/>
            <a:r>
              <a:rPr sz="1900" b="1" lang="ur-PK">
                <a:solidFill>
                  <a:srgbClr val="15302E"/>
                </a:solidFill>
                <a:latin typeface="Arial"/>
                <a:cs typeface="Arial"/>
              </a:rPr>
              <a:t>طلبہ</a:t>
            </a:r>
          </a:p>
        </p:txBody>
      </p:sp>
      <p:sp>
        <p:nvSpPr>
          <p:cNvPr id="8" name="Card text"/>
          <p:cNvSpPr txBox="1"/>
          <p:nvPr/>
        </p:nvSpPr>
        <p:spPr>
          <a:xfrm>
            <a:off x="8351215" y="3218688"/>
            <a:ext cx="2971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2000"/>
              </a:lnSpc>
            </a:pPr>
            <a:r>
              <a:rPr sz="1550" b="0" lang="ur-PK">
                <a:solidFill>
                  <a:srgbClr val="5D716E"/>
                </a:solidFill>
                <a:latin typeface="Arial"/>
                <a:cs typeface="Arial"/>
              </a:rPr>
              <a:t>جو عربی حروف پڑھ سکتے ہیں اور معنی سمجھنا چاہتے ہیں۔</a:t>
            </a:r>
          </a:p>
        </p:txBody>
      </p:sp>
      <p:sp>
        <p:nvSpPr>
          <p:cNvPr id="9" name="Card 2"/>
          <p:cNvSpPr/>
          <p:nvPr/>
        </p:nvSpPr>
        <p:spPr>
          <a:xfrm>
            <a:off x="4446727" y="2377440"/>
            <a:ext cx="342900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ard mark"/>
          <p:cNvSpPr/>
          <p:nvPr/>
        </p:nvSpPr>
        <p:spPr>
          <a:xfrm>
            <a:off x="7216993" y="2651760"/>
            <a:ext cx="430133" cy="384048"/>
          </a:xfrm>
          <a:prstGeom prst="hexagon">
            <a:avLst/>
          </a:prstGeom>
          <a:solidFill>
            <a:srgbClr val="1F6F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ard title"/>
          <p:cNvSpPr txBox="1"/>
          <p:nvPr/>
        </p:nvSpPr>
        <p:spPr>
          <a:xfrm>
            <a:off x="4675327" y="2633472"/>
            <a:ext cx="24231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/>
            <a:r>
              <a:rPr sz="1900" b="1" lang="ur-PK">
                <a:solidFill>
                  <a:srgbClr val="15302E"/>
                </a:solidFill>
                <a:latin typeface="Arial"/>
                <a:cs typeface="Arial"/>
              </a:rPr>
              <a:t>حفاظ</a:t>
            </a:r>
          </a:p>
        </p:txBody>
      </p:sp>
      <p:sp>
        <p:nvSpPr>
          <p:cNvPr id="12" name="Card text"/>
          <p:cNvSpPr txBox="1"/>
          <p:nvPr/>
        </p:nvSpPr>
        <p:spPr>
          <a:xfrm>
            <a:off x="4675327" y="3218688"/>
            <a:ext cx="2971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2000"/>
              </a:lnSpc>
            </a:pPr>
            <a:r>
              <a:rPr sz="1550" b="0" lang="ur-PK">
                <a:solidFill>
                  <a:srgbClr val="5D716E"/>
                </a:solidFill>
                <a:latin typeface="Arial"/>
                <a:cs typeface="Arial"/>
              </a:rPr>
              <a:t>جو یاد کرتے ہیں اسے سمجھیں، اسی 15 سطری صفحے پر۔</a:t>
            </a:r>
          </a:p>
        </p:txBody>
      </p:sp>
      <p:sp>
        <p:nvSpPr>
          <p:cNvPr id="13" name="Card 3"/>
          <p:cNvSpPr/>
          <p:nvPr/>
        </p:nvSpPr>
        <p:spPr>
          <a:xfrm>
            <a:off x="770839" y="2377440"/>
            <a:ext cx="342900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ard mark"/>
          <p:cNvSpPr/>
          <p:nvPr/>
        </p:nvSpPr>
        <p:spPr>
          <a:xfrm>
            <a:off x="3541105" y="2651760"/>
            <a:ext cx="430133" cy="384048"/>
          </a:xfrm>
          <a:prstGeom prst="hexagon">
            <a:avLst/>
          </a:prstGeom>
          <a:solidFill>
            <a:srgbClr val="B874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ard title"/>
          <p:cNvSpPr txBox="1"/>
          <p:nvPr/>
        </p:nvSpPr>
        <p:spPr>
          <a:xfrm>
            <a:off x="999439" y="2633472"/>
            <a:ext cx="24231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/>
            <a:r>
              <a:rPr sz="1900" b="1" lang="ur-PK">
                <a:solidFill>
                  <a:srgbClr val="15302E"/>
                </a:solidFill>
                <a:latin typeface="Arial"/>
                <a:cs typeface="Arial"/>
              </a:rPr>
              <a:t>اساتذہ</a:t>
            </a:r>
          </a:p>
        </p:txBody>
      </p:sp>
      <p:sp>
        <p:nvSpPr>
          <p:cNvPr id="16" name="Card text"/>
          <p:cNvSpPr txBox="1"/>
          <p:nvPr/>
        </p:nvSpPr>
        <p:spPr>
          <a:xfrm>
            <a:off x="999439" y="3218688"/>
            <a:ext cx="2971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2000"/>
              </a:lnSpc>
            </a:pPr>
            <a:r>
              <a:rPr sz="1550" b="0" lang="ur-PK">
                <a:solidFill>
                  <a:srgbClr val="5D716E"/>
                </a:solidFill>
                <a:latin typeface="Arial"/>
                <a:cs typeface="Arial"/>
              </a:rPr>
              <a:t>کلاس روم کے لیے ٹیم گیم اور کلاس پروفائل۔</a:t>
            </a:r>
          </a:p>
        </p:txBody>
      </p:sp>
      <p:sp>
        <p:nvSpPr>
          <p:cNvPr id="17" name="Card 4"/>
          <p:cNvSpPr/>
          <p:nvPr/>
        </p:nvSpPr>
        <p:spPr>
          <a:xfrm>
            <a:off x="8122615" y="4297680"/>
            <a:ext cx="342900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ard mark"/>
          <p:cNvSpPr/>
          <p:nvPr/>
        </p:nvSpPr>
        <p:spPr>
          <a:xfrm>
            <a:off x="10892881" y="4572000"/>
            <a:ext cx="430133" cy="384048"/>
          </a:xfrm>
          <a:prstGeom prst="hexagon">
            <a:avLst/>
          </a:prstGeom>
          <a:solidFill>
            <a:srgbClr val="153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ard title"/>
          <p:cNvSpPr txBox="1"/>
          <p:nvPr/>
        </p:nvSpPr>
        <p:spPr>
          <a:xfrm>
            <a:off x="8351215" y="4553712"/>
            <a:ext cx="24231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/>
            <a:r>
              <a:rPr sz="1900" b="1" lang="ur-PK">
                <a:solidFill>
                  <a:srgbClr val="15302E"/>
                </a:solidFill>
                <a:latin typeface="Arial"/>
                <a:cs typeface="Arial"/>
              </a:rPr>
              <a:t>گھر والے</a:t>
            </a:r>
          </a:p>
        </p:txBody>
      </p:sp>
      <p:sp>
        <p:nvSpPr>
          <p:cNvPr id="20" name="Card text"/>
          <p:cNvSpPr txBox="1"/>
          <p:nvPr/>
        </p:nvSpPr>
        <p:spPr>
          <a:xfrm>
            <a:off x="8351215" y="5138928"/>
            <a:ext cx="2971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2000"/>
              </a:lnSpc>
            </a:pPr>
            <a:r>
              <a:rPr sz="1550" b="0" lang="ur-PK">
                <a:solidFill>
                  <a:srgbClr val="5D716E"/>
                </a:solidFill>
                <a:latin typeface="Arial"/>
                <a:cs typeface="Arial"/>
              </a:rPr>
              <a:t>مل کر سیکھیں، روزانہ چند آیات۔</a:t>
            </a:r>
          </a:p>
        </p:txBody>
      </p:sp>
      <p:sp>
        <p:nvSpPr>
          <p:cNvPr id="21" name="Card 5"/>
          <p:cNvSpPr/>
          <p:nvPr/>
        </p:nvSpPr>
        <p:spPr>
          <a:xfrm>
            <a:off x="4446727" y="4297680"/>
            <a:ext cx="342900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ard mark"/>
          <p:cNvSpPr/>
          <p:nvPr/>
        </p:nvSpPr>
        <p:spPr>
          <a:xfrm>
            <a:off x="7216993" y="4572000"/>
            <a:ext cx="430133" cy="384048"/>
          </a:xfrm>
          <a:prstGeom prst="hexagon">
            <a:avLst/>
          </a:prstGeom>
          <a:solidFill>
            <a:srgbClr val="1F6F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ard title"/>
          <p:cNvSpPr txBox="1"/>
          <p:nvPr/>
        </p:nvSpPr>
        <p:spPr>
          <a:xfrm>
            <a:off x="4675327" y="4553712"/>
            <a:ext cx="24231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/>
            <a:r>
              <a:rPr sz="1900" b="1" lang="ur-PK">
                <a:solidFill>
                  <a:srgbClr val="15302E"/>
                </a:solidFill>
                <a:latin typeface="Arial"/>
                <a:cs typeface="Arial"/>
              </a:rPr>
              <a:t>نئے پڑھنے والے</a:t>
            </a:r>
          </a:p>
        </p:txBody>
      </p:sp>
      <p:sp>
        <p:nvSpPr>
          <p:cNvPr id="24" name="Card text"/>
          <p:cNvSpPr txBox="1"/>
          <p:nvPr/>
        </p:nvSpPr>
        <p:spPr>
          <a:xfrm>
            <a:off x="4675327" y="5138928"/>
            <a:ext cx="2971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2000"/>
              </a:lnSpc>
            </a:pPr>
            <a:r>
              <a:rPr sz="1550" b="0" lang="ur-PK">
                <a:solidFill>
                  <a:srgbClr val="5D716E"/>
                </a:solidFill>
                <a:latin typeface="Arial"/>
                <a:cs typeface="Arial"/>
              </a:rPr>
              <a:t>عربی رسم الخط سے پہلے ہندی حروف میں شروع کریں۔</a:t>
            </a:r>
          </a:p>
        </p:txBody>
      </p:sp>
      <p:sp>
        <p:nvSpPr>
          <p:cNvPr id="25" name="Card 6"/>
          <p:cNvSpPr/>
          <p:nvPr/>
        </p:nvSpPr>
        <p:spPr>
          <a:xfrm>
            <a:off x="770839" y="4297680"/>
            <a:ext cx="342900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ard mark"/>
          <p:cNvSpPr/>
          <p:nvPr/>
        </p:nvSpPr>
        <p:spPr>
          <a:xfrm>
            <a:off x="3541105" y="4572000"/>
            <a:ext cx="430133" cy="384048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ard title"/>
          <p:cNvSpPr txBox="1"/>
          <p:nvPr/>
        </p:nvSpPr>
        <p:spPr>
          <a:xfrm>
            <a:off x="999439" y="4553712"/>
            <a:ext cx="24231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/>
            <a:r>
              <a:rPr sz="1900" b="1" lang="ur-PK">
                <a:solidFill>
                  <a:srgbClr val="15302E"/>
                </a:solidFill>
                <a:latin typeface="Arial"/>
                <a:cs typeface="Arial"/>
              </a:rPr>
              <a:t>سب کے لیے مفت</a:t>
            </a:r>
          </a:p>
        </p:txBody>
      </p:sp>
      <p:sp>
        <p:nvSpPr>
          <p:cNvPr id="28" name="Card text"/>
          <p:cNvSpPr txBox="1"/>
          <p:nvPr/>
        </p:nvSpPr>
        <p:spPr>
          <a:xfrm>
            <a:off x="999439" y="5138928"/>
            <a:ext cx="2971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2000"/>
              </a:lnSpc>
            </a:pPr>
            <a:r>
              <a:rPr sz="1550" b="0" lang="ur-PK">
                <a:solidFill>
                  <a:srgbClr val="5D716E"/>
                </a:solidFill>
                <a:latin typeface="Arial"/>
                <a:cs typeface="Arial"/>
              </a:rPr>
              <a:t>کوئی اشتہار، سائن اپ یا ٹریکنگ نہیں۔ غیر تجارتی۔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3779215" y="6419088"/>
            <a:ext cx="7772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/>
            <a:r>
              <a:rPr sz="1050" b="0" lang="ur-PK">
                <a:solidFill>
                  <a:srgbClr val="5D716E"/>
                </a:solidFill>
                <a:latin typeface="Arial"/>
                <a:cs typeface="Arial"/>
              </a:rPr>
              <a:t>مفت · غیر تجارتی · </a:t>
            </a:r>
            <a:r>
              <a:rPr sz="1050" b="0" lang="en-US">
                <a:solidFill>
                  <a:srgbClr val="5D716E"/>
                </a:solidFill>
                <a:latin typeface="Arial"/>
                <a:cs typeface="Arial"/>
              </a:rPr>
              <a:t>marshadkc.github.io/quranreader</a:t>
            </a:r>
          </a:p>
        </p:txBody>
      </p:sp>
      <p:sp>
        <p:nvSpPr>
          <p:cNvPr id="30" name="Slide number"/>
          <p:cNvSpPr txBox="1"/>
          <p:nvPr/>
        </p:nvSpPr>
        <p:spPr>
          <a:xfrm>
            <a:off x="640080" y="641908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lang="en-US">
                <a:solidFill>
                  <a:srgbClr val="5D716E"/>
                </a:solidFill>
                <a:latin typeface="Arial"/>
                <a:cs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A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 badge"/>
          <p:cNvSpPr/>
          <p:nvPr/>
        </p:nvSpPr>
        <p:spPr>
          <a:xfrm>
            <a:off x="11019068" y="566928"/>
            <a:ext cx="532546" cy="475488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US">
                <a:solidFill>
                  <a:srgbClr val="FFFFFF"/>
                </a:solidFill>
                <a:latin typeface="Arial"/>
                <a:cs typeface="Arial"/>
              </a:rPr>
              <a:t>15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4647895" y="566928"/>
            <a:ext cx="6217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/>
            <a:r>
              <a:rPr sz="1300" b="1" lang="ur-PK">
                <a:solidFill>
                  <a:srgbClr val="E9A227"/>
                </a:solidFill>
                <a:latin typeface="Arial"/>
                <a:cs typeface="Arial"/>
              </a:rPr>
              <a:t>آج ہی شروع کریں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4602175" y="1207008"/>
            <a:ext cx="69494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95000"/>
              </a:lnSpc>
            </a:pPr>
            <a:r>
              <a:rPr sz="3200" b="1" lang="ur-PK">
                <a:solidFill>
                  <a:srgbClr val="FFFFFF"/>
                </a:solidFill>
                <a:latin typeface="Arial"/>
                <a:cs typeface="Arial"/>
              </a:rPr>
              <a:t>کھولیں، انسٹال کریں، شیئر کریں</a:t>
            </a:r>
          </a:p>
        </p:txBody>
      </p:sp>
      <p:sp>
        <p:nvSpPr>
          <p:cNvPr id="5" name="Link"/>
          <p:cNvSpPr/>
          <p:nvPr/>
        </p:nvSpPr>
        <p:spPr>
          <a:xfrm>
            <a:off x="5882335" y="2240280"/>
            <a:ext cx="5669280" cy="566928"/>
          </a:xfrm>
          <a:prstGeom prst="roundRect">
            <a:avLst>
              <a:gd name="adj" fmla="val 50000"/>
            </a:avLst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lang="en-US">
                <a:solidFill>
                  <a:srgbClr val="122A27"/>
                </a:solidFill>
                <a:latin typeface="Arial"/>
                <a:cs typeface="Arial"/>
              </a:rPr>
              <a:t>https://marshadkc.github.io/quranreader</a:t>
            </a:r>
          </a:p>
        </p:txBody>
      </p:sp>
      <p:sp>
        <p:nvSpPr>
          <p:cNvPr id="6" name="Step label"/>
          <p:cNvSpPr txBox="1"/>
          <p:nvPr/>
        </p:nvSpPr>
        <p:spPr>
          <a:xfrm>
            <a:off x="10088575" y="3017520"/>
            <a:ext cx="1463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/>
            <a:r>
              <a:rPr sz="1600" b="1" lang="ur-PK">
                <a:solidFill>
                  <a:srgbClr val="E9A227"/>
                </a:solidFill>
                <a:latin typeface="Arial"/>
                <a:cs typeface="Arial"/>
              </a:rPr>
              <a:t>اینڈرائیڈ</a:t>
            </a:r>
          </a:p>
        </p:txBody>
      </p:sp>
      <p:sp>
        <p:nvSpPr>
          <p:cNvPr id="7" name="Step text"/>
          <p:cNvSpPr txBox="1"/>
          <p:nvPr/>
        </p:nvSpPr>
        <p:spPr>
          <a:xfrm>
            <a:off x="4922215" y="301752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2000"/>
              </a:lnSpc>
            </a:pPr>
            <a:r>
              <a:rPr sz="1600" b="0" lang="ur-PK">
                <a:solidFill>
                  <a:srgbClr val="FFFFFF"/>
                </a:solidFill>
                <a:latin typeface="Arial"/>
                <a:cs typeface="Arial"/>
              </a:rPr>
              <a:t>لنک </a:t>
            </a:r>
            <a:r>
              <a:rPr sz="1600" b="0" lang="en-US">
                <a:solidFill>
                  <a:srgbClr val="FFFFFF"/>
                </a:solidFill>
                <a:latin typeface="Arial"/>
                <a:cs typeface="Arial"/>
              </a:rPr>
              <a:t>Chrome </a:t>
            </a:r>
            <a:r>
              <a:rPr sz="1600" b="0" lang="ur-PK">
                <a:solidFill>
                  <a:srgbClr val="FFFFFF"/>
                </a:solidFill>
                <a:latin typeface="Arial"/>
                <a:cs typeface="Arial"/>
              </a:rPr>
              <a:t>میں کھولیں، ⋮ دبائیں اور "</a:t>
            </a:r>
            <a:r>
              <a:rPr sz="1600" b="0" lang="en-US">
                <a:solidFill>
                  <a:srgbClr val="FFFFFF"/>
                </a:solidFill>
                <a:latin typeface="Arial"/>
                <a:cs typeface="Arial"/>
              </a:rPr>
              <a:t>Add to Home screen" </a:t>
            </a:r>
            <a:r>
              <a:rPr sz="1600" b="0" lang="ur-PK">
                <a:solidFill>
                  <a:srgbClr val="FFFFFF"/>
                </a:solidFill>
                <a:latin typeface="Arial"/>
                <a:cs typeface="Arial"/>
              </a:rPr>
              <a:t>چنیں۔</a:t>
            </a:r>
          </a:p>
        </p:txBody>
      </p:sp>
      <p:sp>
        <p:nvSpPr>
          <p:cNvPr id="8" name="Step label"/>
          <p:cNvSpPr txBox="1"/>
          <p:nvPr/>
        </p:nvSpPr>
        <p:spPr>
          <a:xfrm>
            <a:off x="10088575" y="3730752"/>
            <a:ext cx="1463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/>
            <a:r>
              <a:rPr sz="1600" b="1" lang="ur-PK">
                <a:solidFill>
                  <a:srgbClr val="E9A227"/>
                </a:solidFill>
                <a:latin typeface="Arial"/>
                <a:cs typeface="Arial"/>
              </a:rPr>
              <a:t>آئی فون</a:t>
            </a:r>
          </a:p>
        </p:txBody>
      </p:sp>
      <p:sp>
        <p:nvSpPr>
          <p:cNvPr id="9" name="Step text"/>
          <p:cNvSpPr txBox="1"/>
          <p:nvPr/>
        </p:nvSpPr>
        <p:spPr>
          <a:xfrm>
            <a:off x="4922215" y="3730752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2000"/>
              </a:lnSpc>
            </a:pPr>
            <a:r>
              <a:rPr sz="1600" b="0" lang="en-US">
                <a:solidFill>
                  <a:srgbClr val="FFFFFF"/>
                </a:solidFill>
                <a:latin typeface="Arial"/>
                <a:cs typeface="Arial"/>
              </a:rPr>
              <a:t>Safari </a:t>
            </a:r>
            <a:r>
              <a:rPr sz="1600" b="0" lang="ur-PK">
                <a:solidFill>
                  <a:srgbClr val="FFFFFF"/>
                </a:solidFill>
                <a:latin typeface="Arial"/>
                <a:cs typeface="Arial"/>
              </a:rPr>
              <a:t>میں کھولیں، </a:t>
            </a:r>
            <a:r>
              <a:rPr sz="1600" b="0" lang="en-US">
                <a:solidFill>
                  <a:srgbClr val="FFFFFF"/>
                </a:solidFill>
                <a:latin typeface="Arial"/>
                <a:cs typeface="Arial"/>
              </a:rPr>
              <a:t>Share </a:t>
            </a:r>
            <a:r>
              <a:rPr sz="1600" b="0" lang="ur-PK">
                <a:solidFill>
                  <a:srgbClr val="FFFFFF"/>
                </a:solidFill>
                <a:latin typeface="Arial"/>
                <a:cs typeface="Arial"/>
              </a:rPr>
              <a:t>دبائیں اور "</a:t>
            </a:r>
            <a:r>
              <a:rPr sz="1600" b="0" lang="en-US">
                <a:solidFill>
                  <a:srgbClr val="FFFFFF"/>
                </a:solidFill>
                <a:latin typeface="Arial"/>
                <a:cs typeface="Arial"/>
              </a:rPr>
              <a:t>Add to Home Screen" </a:t>
            </a:r>
            <a:r>
              <a:rPr sz="1600" b="0" lang="ur-PK">
                <a:solidFill>
                  <a:srgbClr val="FFFFFF"/>
                </a:solidFill>
                <a:latin typeface="Arial"/>
                <a:cs typeface="Arial"/>
              </a:rPr>
              <a:t>چنیں۔</a:t>
            </a:r>
          </a:p>
        </p:txBody>
      </p:sp>
      <p:sp>
        <p:nvSpPr>
          <p:cNvPr id="10" name="Step label"/>
          <p:cNvSpPr txBox="1"/>
          <p:nvPr/>
        </p:nvSpPr>
        <p:spPr>
          <a:xfrm>
            <a:off x="10088575" y="4443984"/>
            <a:ext cx="1463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/>
            <a:r>
              <a:rPr sz="1600" b="1" lang="ur-PK">
                <a:solidFill>
                  <a:srgbClr val="E9A227"/>
                </a:solidFill>
                <a:latin typeface="Arial"/>
                <a:cs typeface="Arial"/>
              </a:rPr>
              <a:t>شیئر</a:t>
            </a:r>
          </a:p>
        </p:txBody>
      </p:sp>
      <p:sp>
        <p:nvSpPr>
          <p:cNvPr id="11" name="Step text"/>
          <p:cNvSpPr txBox="1"/>
          <p:nvPr/>
        </p:nvSpPr>
        <p:spPr>
          <a:xfrm>
            <a:off x="4922215" y="4443984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2000"/>
              </a:lnSpc>
            </a:pPr>
            <a:r>
              <a:rPr sz="1600" b="0" lang="ur-PK">
                <a:solidFill>
                  <a:srgbClr val="FFFFFF"/>
                </a:solidFill>
                <a:latin typeface="Arial"/>
                <a:cs typeface="Arial"/>
              </a:rPr>
              <a:t>ہوم پیج پر "</a:t>
            </a:r>
            <a:r>
              <a:rPr sz="1600" b="0" lang="en-US">
                <a:solidFill>
                  <a:srgbClr val="FFFFFF"/>
                </a:solidFill>
                <a:latin typeface="Arial"/>
                <a:cs typeface="Arial"/>
              </a:rPr>
              <a:t>Share this app" </a:t>
            </a:r>
            <a:r>
              <a:rPr sz="1600" b="0" lang="ur-PK">
                <a:solidFill>
                  <a:srgbClr val="FFFFFF"/>
                </a:solidFill>
                <a:latin typeface="Arial"/>
                <a:cs typeface="Arial"/>
              </a:rPr>
              <a:t>سے واٹس ایپ پر بھیجیں۔</a:t>
            </a:r>
          </a:p>
        </p:txBody>
      </p:sp>
      <p:sp>
        <p:nvSpPr>
          <p:cNvPr id="12" name="Credits"/>
          <p:cNvSpPr txBox="1"/>
          <p:nvPr/>
        </p:nvSpPr>
        <p:spPr>
          <a:xfrm>
            <a:off x="670255" y="5257800"/>
            <a:ext cx="108813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/>
            <a:r>
              <a:rPr sz="1100" b="1" lang="ur-PK">
                <a:solidFill>
                  <a:srgbClr val="E9A227"/>
                </a:solidFill>
                <a:latin typeface="Arial"/>
                <a:cs typeface="Arial"/>
              </a:rPr>
              <a:t>حوالہ جات</a:t>
            </a:r>
          </a:p>
          <a:p>
            <a:pPr algn="r" rtl="1">
              <a:lnSpc>
                <a:spcPct val="100000"/>
              </a:lnSpc>
            </a:pPr>
            <a:r>
              <a:rPr sz="1050" b="0" lang="ur-PK">
                <a:solidFill>
                  <a:srgbClr val="9FCFC3"/>
                </a:solidFill>
                <a:latin typeface="Arial"/>
                <a:cs typeface="Arial"/>
              </a:rPr>
              <a:t>عربی متن، لفظ کے حصے اور مادے: </a:t>
            </a:r>
            <a:r>
              <a:rPr sz="1050" b="0" lang="en-US">
                <a:solidFill>
                  <a:srgbClr val="9FCFC3"/>
                </a:solidFill>
                <a:latin typeface="Arial"/>
                <a:cs typeface="Arial"/>
              </a:rPr>
              <a:t>Quranic Arabic Corpus (quran-morphology)</a:t>
            </a:r>
            <a:r>
              <a:rPr sz="1050" b="0" lang="ur-PK">
                <a:solidFill>
                  <a:srgbClr val="9FCFC3"/>
                </a:solidFill>
                <a:latin typeface="Arial"/>
                <a:cs typeface="Arial"/>
              </a:rPr>
              <a:t>۔ الفاظ کے معانی: </a:t>
            </a:r>
            <a:r>
              <a:rPr sz="1050" b="0" lang="en-US">
                <a:solidFill>
                  <a:srgbClr val="9FCFC3"/>
                </a:solidFill>
                <a:latin typeface="Arial"/>
                <a:cs typeface="Arial"/>
              </a:rPr>
              <a:t>Quran.com</a:t>
            </a:r>
            <a:r>
              <a:rPr sz="1050" b="0" lang="ur-PK">
                <a:solidFill>
                  <a:srgbClr val="9FCFC3"/>
                </a:solidFill>
                <a:latin typeface="Arial"/>
                <a:cs typeface="Arial"/>
              </a:rPr>
              <a:t>؛ اردو اور ہندی: الہدیٰ انٹرنیشنل۔ آیات کے تراجم: </a:t>
            </a:r>
            <a:r>
              <a:rPr sz="1050" b="0" lang="en-US">
                <a:solidFill>
                  <a:srgbClr val="9FCFC3"/>
                </a:solidFill>
                <a:latin typeface="Arial"/>
                <a:cs typeface="Arial"/>
              </a:rPr>
              <a:t>Saheeh International</a:t>
            </a:r>
            <a:r>
              <a:rPr sz="1050" b="0" lang="ur-PK">
                <a:solidFill>
                  <a:srgbClr val="9FCFC3"/>
                </a:solidFill>
                <a:latin typeface="Arial"/>
                <a:cs typeface="Arial"/>
              </a:rPr>
              <a:t>، فتح محمد جالندھری، عزیز الحق العمری۔ مصحف کی ترتیب: </a:t>
            </a:r>
            <a:r>
              <a:rPr sz="1050" b="0" lang="en-US">
                <a:solidFill>
                  <a:srgbClr val="9FCFC3"/>
                </a:solidFill>
                <a:latin typeface="Arial"/>
                <a:cs typeface="Arial"/>
              </a:rPr>
              <a:t>QUL (Tarteel)</a:t>
            </a:r>
            <a:r>
              <a:rPr sz="1050" b="0" lang="ur-PK">
                <a:solidFill>
                  <a:srgbClr val="9FCFC3"/>
                </a:solidFill>
                <a:latin typeface="Arial"/>
                <a:cs typeface="Arial"/>
              </a:rPr>
              <a:t>۔ مادوں کے معانی: کلاسیکی لغات، </a:t>
            </a:r>
            <a:r>
              <a:rPr sz="1050" b="0" lang="en-US">
                <a:solidFill>
                  <a:srgbClr val="9FCFC3"/>
                </a:solidFill>
                <a:latin typeface="Arial"/>
                <a:cs typeface="Arial"/>
              </a:rPr>
              <a:t>tafsir.app </a:t>
            </a:r>
            <a:r>
              <a:rPr sz="1050" b="0" lang="ur-PK">
                <a:solidFill>
                  <a:srgbClr val="9FCFC3"/>
                </a:solidFill>
                <a:latin typeface="Arial"/>
                <a:cs typeface="Arial"/>
              </a:rPr>
              <a:t>کے ذریعے۔ انڈو پاک فونٹ: </a:t>
            </a:r>
            <a:r>
              <a:rPr sz="1050" b="0" lang="en-US">
                <a:solidFill>
                  <a:srgbClr val="9FCFC3"/>
                </a:solidFill>
                <a:latin typeface="Arial"/>
                <a:cs typeface="Arial"/>
              </a:rPr>
              <a:t>QuranWBW</a:t>
            </a:r>
            <a:r>
              <a:rPr sz="1050" b="0" lang="ur-PK">
                <a:solidFill>
                  <a:srgbClr val="9FCFC3"/>
                </a:solidFill>
                <a:latin typeface="Arial"/>
                <a:cs typeface="Arial"/>
              </a:rPr>
              <a:t>۔</a:t>
            </a:r>
          </a:p>
        </p:txBody>
      </p:sp>
      <p:sp>
        <p:nvSpPr>
          <p:cNvPr id="13" name="Shadow"/>
          <p:cNvSpPr/>
          <p:nvPr/>
        </p:nvSpPr>
        <p:spPr>
          <a:xfrm>
            <a:off x="523951" y="2313432"/>
            <a:ext cx="3931920" cy="1769364"/>
          </a:xfrm>
          <a:prstGeom prst="roundRect">
            <a:avLst>
              <a:gd name="adj" fmla="val 8000"/>
            </a:avLst>
          </a:prstGeom>
          <a:solidFill>
            <a:srgbClr val="0A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Share card" descr="The Share this app card on the home p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815" y="2240280"/>
            <a:ext cx="3931920" cy="1769364"/>
          </a:xfrm>
          <a:prstGeom prst="roundRect">
            <a:avLst/>
          </a:prstGeom>
          <a:ln w="25400">
            <a:solidFill>
              <a:srgbClr val="E9A227"/>
            </a:solidFill>
          </a:ln>
        </p:spPr>
      </p:pic>
      <p:sp>
        <p:nvSpPr>
          <p:cNvPr id="15" name="Footer"/>
          <p:cNvSpPr txBox="1"/>
          <p:nvPr/>
        </p:nvSpPr>
        <p:spPr>
          <a:xfrm>
            <a:off x="3779215" y="6419088"/>
            <a:ext cx="7772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/>
            <a:r>
              <a:rPr sz="1050" b="0" lang="ur-PK">
                <a:solidFill>
                  <a:srgbClr val="9FCFC3"/>
                </a:solidFill>
                <a:latin typeface="Arial"/>
                <a:cs typeface="Arial"/>
              </a:rPr>
              <a:t>مفت · غیر تجارتی · </a:t>
            </a:r>
            <a:r>
              <a:rPr sz="1050" b="0" lang="en-US">
                <a:solidFill>
                  <a:srgbClr val="9FCFC3"/>
                </a:solidFill>
                <a:latin typeface="Arial"/>
                <a:cs typeface="Arial"/>
              </a:rPr>
              <a:t>marshadkc.github.io/quranreader</a:t>
            </a:r>
          </a:p>
        </p:txBody>
      </p:sp>
      <p:sp>
        <p:nvSpPr>
          <p:cNvPr id="16" name="Slide number"/>
          <p:cNvSpPr txBox="1"/>
          <p:nvPr/>
        </p:nvSpPr>
        <p:spPr>
          <a:xfrm>
            <a:off x="640080" y="641908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lang="en-US">
                <a:solidFill>
                  <a:srgbClr val="9FCFC3"/>
                </a:solidFill>
                <a:latin typeface="Arial"/>
                <a:cs typeface="Arial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Quran Word Reader · قرآن کو اس کے اپنے الفاظ میں سمجھیں</dc:title>
  <dc:subject>Features</dc:subject>
  <dc:creator>Quran Word Reader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