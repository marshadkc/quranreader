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"/>
          <p:cNvSpPr/>
          <p:nvPr/>
        </p:nvSpPr>
        <p:spPr>
          <a:xfrm>
            <a:off x="640080" y="502920"/>
            <a:ext cx="634959" cy="56692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"/>
          <p:cNvSpPr/>
          <p:nvPr/>
        </p:nvSpPr>
        <p:spPr>
          <a:xfrm>
            <a:off x="1216152" y="822960"/>
            <a:ext cx="634959" cy="566928"/>
          </a:xfrm>
          <a:prstGeom prst="hexagon">
            <a:avLst/>
          </a:prstGeom>
          <a:solidFill>
            <a:srgbClr val="E9D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"/>
          <p:cNvSpPr/>
          <p:nvPr/>
        </p:nvSpPr>
        <p:spPr>
          <a:xfrm>
            <a:off x="1216152" y="182880"/>
            <a:ext cx="634959" cy="56692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pp name"/>
          <p:cNvSpPr txBox="1"/>
          <p:nvPr/>
        </p:nvSpPr>
        <p:spPr>
          <a:xfrm>
            <a:off x="640080" y="17373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E9A227"/>
                </a:solidFill>
                <a:latin typeface="Calibri"/>
                <a:cs typeface="Calibri"/>
              </a:rPr>
              <a:t>Quran Word Reader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2286000"/>
            <a:ext cx="5486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lang="en-US">
                <a:solidFill>
                  <a:srgbClr val="FFFFFF"/>
                </a:solidFill>
                <a:latin typeface="Cambria"/>
                <a:cs typeface="Cambria"/>
              </a:rPr>
              <a:t>Understand the Quran in its own words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40080" y="434340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lang="en-US">
                <a:solidFill>
                  <a:srgbClr val="9FCFC3"/>
                </a:solidFill>
                <a:latin typeface="Calibri"/>
                <a:cs typeface="Calibri"/>
              </a:rPr>
              <a:t>Learn the meaning of every Arabic word, and read the Quran without a translation.</a:t>
            </a:r>
          </a:p>
        </p:txBody>
      </p:sp>
      <p:sp>
        <p:nvSpPr>
          <p:cNvPr id="8" name="Link"/>
          <p:cNvSpPr/>
          <p:nvPr/>
        </p:nvSpPr>
        <p:spPr>
          <a:xfrm>
            <a:off x="640080" y="53492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lang="en-US">
                <a:solidFill>
                  <a:srgbClr val="122A27"/>
                </a:solidFill>
                <a:latin typeface="Calibri"/>
                <a:cs typeface="Calibri"/>
              </a:rPr>
              <a:t>marshadkc.github.io/quranreader</a:t>
            </a:r>
          </a:p>
        </p:txBody>
      </p:sp>
      <p:sp>
        <p:nvSpPr>
          <p:cNvPr id="9" name="Badges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en-US">
                <a:solidFill>
                  <a:srgbClr val="9FCFC3"/>
                </a:solidFill>
                <a:latin typeface="Calibri"/>
                <a:cs typeface="Calibri"/>
              </a:rPr>
              <a:t>Free  ·  No ads  ·  English · </a:t>
            </a:r>
            <a:r>
              <a:rPr sz="1300" b="0" lang="ar-SA">
                <a:solidFill>
                  <a:srgbClr val="9FCFC3"/>
                </a:solidFill>
                <a:latin typeface="Calibri"/>
                <a:cs typeface="Arial"/>
              </a:rPr>
              <a:t>اردو‎ · </a:t>
            </a:r>
            <a:r>
              <a:rPr sz="1300" b="0" lang="hi-IN">
                <a:solidFill>
                  <a:srgbClr val="9FCFC3"/>
                </a:solidFill>
                <a:latin typeface="Calibri"/>
                <a:cs typeface="Nirmala UI"/>
              </a:rPr>
              <a:t>हिंदी</a:t>
            </a:r>
          </a:p>
        </p:txBody>
      </p:sp>
      <p:sp>
        <p:nvSpPr>
          <p:cNvPr id="10" name="Phone shadow"/>
          <p:cNvSpPr/>
          <p:nvPr/>
        </p:nvSpPr>
        <p:spPr>
          <a:xfrm>
            <a:off x="6318503" y="1216152"/>
            <a:ext cx="2331720" cy="461560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card" descr="c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2331720" cy="461560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Phone shadow"/>
          <p:cNvSpPr/>
          <p:nvPr/>
        </p:nvSpPr>
        <p:spPr>
          <a:xfrm>
            <a:off x="9610344" y="1216152"/>
            <a:ext cx="2331720" cy="461560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honey" descr="hon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143000"/>
            <a:ext cx="2331720" cy="461560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Phone shadow"/>
          <p:cNvSpPr/>
          <p:nvPr/>
        </p:nvSpPr>
        <p:spPr>
          <a:xfrm>
            <a:off x="7781544" y="484632"/>
            <a:ext cx="2697480" cy="5339627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creenshot fade" descr="fa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411480"/>
            <a:ext cx="2697480" cy="5339627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E9A227"/>
                </a:solidFill>
                <a:latin typeface="Calibri"/>
                <a:cs typeface="Calibri"/>
              </a:rPr>
              <a:t>WHY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1234440"/>
            <a:ext cx="6675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400" b="1" lang="en-US">
                <a:solidFill>
                  <a:srgbClr val="FFFFFF"/>
                </a:solidFill>
                <a:latin typeface="Cambria"/>
                <a:cs typeface="Cambria"/>
              </a:rPr>
              <a:t>You recite it every day. Now understand every word.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40080" y="406908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lang="en-US">
                <a:solidFill>
                  <a:srgbClr val="9FCFC3"/>
                </a:solidFill>
                <a:latin typeface="Calibri"/>
                <a:cs typeface="Calibri"/>
              </a:rPr>
              <a:t>Most of us read the Quran in Arabic but understand it only through a translation. Quran Word Reader teaches the words themselves, so the Arabic page speaks to you directly.</a:t>
            </a:r>
          </a:p>
        </p:txBody>
      </p:sp>
      <p:sp>
        <p:nvSpPr>
          <p:cNvPr id="5" name="Phone shadow"/>
          <p:cNvSpPr/>
          <p:nvPr/>
        </p:nvSpPr>
        <p:spPr>
          <a:xfrm>
            <a:off x="8558784" y="576072"/>
            <a:ext cx="2880360" cy="5701635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shot none" descr="n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02920"/>
            <a:ext cx="2880360" cy="5701635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7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9FCFC3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9FCFC3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10149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THE IDEA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Watch the translation fade away</a:t>
            </a:r>
          </a:p>
        </p:txBody>
      </p:sp>
      <p:sp>
        <p:nvSpPr>
          <p:cNvPr id="5" name="Stage"/>
          <p:cNvSpPr txBox="1"/>
          <p:nvPr/>
        </p:nvSpPr>
        <p:spPr>
          <a:xfrm>
            <a:off x="476859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lang="en-US">
                <a:solidFill>
                  <a:srgbClr val="B8740F"/>
                </a:solidFill>
                <a:latin typeface="Calibri"/>
                <a:cs typeface="Calibri"/>
              </a:rPr>
              <a:t>Start</a:t>
            </a:r>
          </a:p>
          <a:p>
            <a:pPr algn="ctr">
              <a:lnSpc>
                <a:spcPct val="100000"/>
              </a:lnSpc>
            </a:pPr>
            <a:r>
              <a:rPr sz="1500" b="0" lang="en-US">
                <a:solidFill>
                  <a:srgbClr val="15302E"/>
                </a:solidFill>
                <a:latin typeface="Calibri"/>
                <a:cs typeface="Calibri"/>
              </a:rPr>
              <a:t>A meaning under every word</a:t>
            </a:r>
          </a:p>
        </p:txBody>
      </p:sp>
      <p:sp>
        <p:nvSpPr>
          <p:cNvPr id="6" name="Phone shadow"/>
          <p:cNvSpPr/>
          <p:nvPr/>
        </p:nvSpPr>
        <p:spPr>
          <a:xfrm>
            <a:off x="897483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reader" descr="A meaning under every wo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9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Arrow"/>
          <p:cNvSpPr/>
          <p:nvPr/>
        </p:nvSpPr>
        <p:spPr>
          <a:xfrm>
            <a:off x="3823563" y="4114800"/>
            <a:ext cx="548640" cy="685800"/>
          </a:xfrm>
          <a:prstGeom prst="chevr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ge"/>
          <p:cNvSpPr txBox="1"/>
          <p:nvPr/>
        </p:nvSpPr>
        <p:spPr>
          <a:xfrm>
            <a:off x="4472787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lang="en-US">
                <a:solidFill>
                  <a:srgbClr val="B8740F"/>
                </a:solidFill>
                <a:latin typeface="Calibri"/>
                <a:cs typeface="Calibri"/>
              </a:rPr>
              <a:t>Learning</a:t>
            </a:r>
          </a:p>
          <a:p>
            <a:pPr algn="ctr">
              <a:lnSpc>
                <a:spcPct val="100000"/>
              </a:lnSpc>
            </a:pPr>
            <a:r>
              <a:rPr sz="1500" b="0" lang="en-US">
                <a:solidFill>
                  <a:srgbClr val="15302E"/>
                </a:solidFill>
                <a:latin typeface="Calibri"/>
                <a:cs typeface="Calibri"/>
              </a:rPr>
              <a:t>Meanings fade as you learn them</a:t>
            </a:r>
          </a:p>
        </p:txBody>
      </p:sp>
      <p:sp>
        <p:nvSpPr>
          <p:cNvPr id="10" name="Phone shadow"/>
          <p:cNvSpPr/>
          <p:nvPr/>
        </p:nvSpPr>
        <p:spPr>
          <a:xfrm>
            <a:off x="4893411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fade" descr="Meanings fade as you learn th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47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Arrow"/>
          <p:cNvSpPr/>
          <p:nvPr/>
        </p:nvSpPr>
        <p:spPr>
          <a:xfrm>
            <a:off x="7819491" y="4114800"/>
            <a:ext cx="548640" cy="685800"/>
          </a:xfrm>
          <a:prstGeom prst="chevr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ge"/>
          <p:cNvSpPr txBox="1"/>
          <p:nvPr/>
        </p:nvSpPr>
        <p:spPr>
          <a:xfrm>
            <a:off x="8468715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lang="en-US">
                <a:solidFill>
                  <a:srgbClr val="B8740F"/>
                </a:solidFill>
                <a:latin typeface="Calibri"/>
                <a:cs typeface="Calibri"/>
              </a:rPr>
              <a:t>Goal</a:t>
            </a:r>
          </a:p>
          <a:p>
            <a:pPr algn="ctr">
              <a:lnSpc>
                <a:spcPct val="100000"/>
              </a:lnSpc>
            </a:pPr>
            <a:r>
              <a:rPr sz="1500" b="0" lang="en-US">
                <a:solidFill>
                  <a:srgbClr val="15302E"/>
                </a:solidFill>
                <a:latin typeface="Calibri"/>
                <a:cs typeface="Calibri"/>
              </a:rPr>
              <a:t>Plain Arabic, and you understand it</a:t>
            </a:r>
          </a:p>
        </p:txBody>
      </p:sp>
      <p:sp>
        <p:nvSpPr>
          <p:cNvPr id="14" name="Phone shadow"/>
          <p:cNvSpPr/>
          <p:nvPr/>
        </p:nvSpPr>
        <p:spPr>
          <a:xfrm>
            <a:off x="8889339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creenshot none" descr="Plain Arabic, and you understand 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475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6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67665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AT A GLANCE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74980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The whole Quran, word by word</a:t>
            </a:r>
          </a:p>
        </p:txBody>
      </p:sp>
      <p:sp>
        <p:nvSpPr>
          <p:cNvPr id="5" name="Stat 1"/>
          <p:cNvSpPr/>
          <p:nvPr/>
        </p:nvSpPr>
        <p:spPr>
          <a:xfrm>
            <a:off x="640080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 number"/>
          <p:cNvSpPr txBox="1"/>
          <p:nvPr/>
        </p:nvSpPr>
        <p:spPr>
          <a:xfrm>
            <a:off x="914400" y="2514600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B8740F"/>
                </a:solidFill>
                <a:latin typeface="Cambria"/>
                <a:cs typeface="Cambria"/>
              </a:rPr>
              <a:t>114</a:t>
            </a:r>
          </a:p>
        </p:txBody>
      </p:sp>
      <p:sp>
        <p:nvSpPr>
          <p:cNvPr id="7" name="Stat label"/>
          <p:cNvSpPr txBox="1"/>
          <p:nvPr/>
        </p:nvSpPr>
        <p:spPr>
          <a:xfrm>
            <a:off x="914400" y="3310128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lang="en-US">
                <a:solidFill>
                  <a:srgbClr val="15302E"/>
                </a:solidFill>
                <a:latin typeface="Calibri"/>
                <a:cs typeface="Calibri"/>
              </a:rPr>
              <a:t>sūrahs: the whole Quran, from Al-Fātiḥah to An-Nās</a:t>
            </a:r>
          </a:p>
        </p:txBody>
      </p:sp>
      <p:sp>
        <p:nvSpPr>
          <p:cNvPr id="8" name="Stat 2"/>
          <p:cNvSpPr/>
          <p:nvPr/>
        </p:nvSpPr>
        <p:spPr>
          <a:xfrm>
            <a:off x="4526280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 number"/>
          <p:cNvSpPr txBox="1"/>
          <p:nvPr/>
        </p:nvSpPr>
        <p:spPr>
          <a:xfrm>
            <a:off x="4800600" y="2514600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B8740F"/>
                </a:solidFill>
                <a:latin typeface="Cambria"/>
                <a:cs typeface="Cambria"/>
              </a:rPr>
              <a:t>77,429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4800600" y="3310128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lang="en-US">
                <a:solidFill>
                  <a:srgbClr val="15302E"/>
                </a:solidFill>
                <a:latin typeface="Calibri"/>
                <a:cs typeface="Calibri"/>
              </a:rPr>
              <a:t>words, every one with its meaning</a:t>
            </a:r>
          </a:p>
        </p:txBody>
      </p:sp>
      <p:sp>
        <p:nvSpPr>
          <p:cNvPr id="11" name="Stat 3"/>
          <p:cNvSpPr/>
          <p:nvPr/>
        </p:nvSpPr>
        <p:spPr>
          <a:xfrm>
            <a:off x="640080" y="4279392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 number"/>
          <p:cNvSpPr txBox="1"/>
          <p:nvPr/>
        </p:nvSpPr>
        <p:spPr>
          <a:xfrm>
            <a:off x="914400" y="4462272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1F6F62"/>
                </a:solidFill>
                <a:latin typeface="Cambria"/>
                <a:cs typeface="Cambria"/>
              </a:rPr>
              <a:t>7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914400" y="5257800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lang="en-US">
                <a:solidFill>
                  <a:srgbClr val="15302E"/>
                </a:solidFill>
                <a:latin typeface="Calibri"/>
                <a:cs typeface="Calibri"/>
              </a:rPr>
              <a:t>classical Arabic dictionaries for the meaning of each root</a:t>
            </a:r>
          </a:p>
        </p:txBody>
      </p:sp>
      <p:sp>
        <p:nvSpPr>
          <p:cNvPr id="14" name="Stat 4"/>
          <p:cNvSpPr/>
          <p:nvPr/>
        </p:nvSpPr>
        <p:spPr>
          <a:xfrm>
            <a:off x="4526280" y="4279392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 number"/>
          <p:cNvSpPr txBox="1"/>
          <p:nvPr/>
        </p:nvSpPr>
        <p:spPr>
          <a:xfrm>
            <a:off x="4800600" y="4462272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1F6F62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6" name="Stat label"/>
          <p:cNvSpPr txBox="1"/>
          <p:nvPr/>
        </p:nvSpPr>
        <p:spPr>
          <a:xfrm>
            <a:off x="4800600" y="5257800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lang="en-US">
                <a:solidFill>
                  <a:srgbClr val="15302E"/>
                </a:solidFill>
                <a:latin typeface="Calibri"/>
                <a:cs typeface="Calibri"/>
              </a:rPr>
              <a:t>languages: English, </a:t>
            </a:r>
            <a:r>
              <a:rPr sz="1450" b="0" lang="ar-SA">
                <a:solidFill>
                  <a:srgbClr val="15302E"/>
                </a:solidFill>
                <a:latin typeface="Calibri"/>
                <a:cs typeface="Arial"/>
              </a:rPr>
              <a:t>اردو‎ </a:t>
            </a:r>
            <a:r>
              <a:rPr sz="1450" b="0" lang="en-US">
                <a:solidFill>
                  <a:srgbClr val="15302E"/>
                </a:solidFill>
                <a:latin typeface="Calibri"/>
                <a:cs typeface="Calibri"/>
              </a:rPr>
              <a:t>and </a:t>
            </a:r>
            <a:r>
              <a:rPr sz="1450" b="0" lang="hi-IN">
                <a:solidFill>
                  <a:srgbClr val="15302E"/>
                </a:solidFill>
                <a:latin typeface="Calibri"/>
                <a:cs typeface="Nirmala UI"/>
              </a:rPr>
              <a:t>हिंदी</a:t>
            </a:r>
          </a:p>
        </p:txBody>
      </p:sp>
      <p:sp>
        <p:nvSpPr>
          <p:cNvPr id="17" name="Note"/>
          <p:cNvSpPr txBox="1"/>
          <p:nvPr/>
        </p:nvSpPr>
        <p:spPr>
          <a:xfrm>
            <a:off x="640080" y="605332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lang="en-US">
                <a:solidFill>
                  <a:srgbClr val="5D716E"/>
                </a:solidFill>
                <a:latin typeface="Calibri"/>
                <a:cs typeface="Calibri"/>
              </a:rPr>
              <a:t>Free, with no ads and no sign-up.</a:t>
            </a:r>
          </a:p>
        </p:txBody>
      </p:sp>
      <p:sp>
        <p:nvSpPr>
          <p:cNvPr id="18" name="Phone shadow"/>
          <p:cNvSpPr/>
          <p:nvPr/>
        </p:nvSpPr>
        <p:spPr>
          <a:xfrm>
            <a:off x="8787384" y="576072"/>
            <a:ext cx="2743200" cy="543012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creenshot progress" descr="progr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502920"/>
            <a:ext cx="2743200" cy="543012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2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9784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THE METHOD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A simple daily habit</a:t>
            </a:r>
          </a:p>
        </p:txBody>
      </p:sp>
      <p:sp>
        <p:nvSpPr>
          <p:cNvPr id="5" name="Step 1"/>
          <p:cNvSpPr/>
          <p:nvPr/>
        </p:nvSpPr>
        <p:spPr>
          <a:xfrm>
            <a:off x="640080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 number"/>
          <p:cNvSpPr/>
          <p:nvPr/>
        </p:nvSpPr>
        <p:spPr>
          <a:xfrm>
            <a:off x="868680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Step text"/>
          <p:cNvSpPr txBox="1"/>
          <p:nvPr/>
        </p:nvSpPr>
        <p:spPr>
          <a:xfrm>
            <a:off x="868680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en-US">
                <a:solidFill>
                  <a:srgbClr val="15302E"/>
                </a:solidFill>
                <a:latin typeface="Calibri"/>
                <a:cs typeface="Calibri"/>
              </a:rPr>
              <a:t>Take 3, 5 or 10 āyāt a day.</a:t>
            </a:r>
          </a:p>
        </p:txBody>
      </p:sp>
      <p:sp>
        <p:nvSpPr>
          <p:cNvPr id="8" name="Step 2"/>
          <p:cNvSpPr/>
          <p:nvPr/>
        </p:nvSpPr>
        <p:spPr>
          <a:xfrm>
            <a:off x="4315968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number"/>
          <p:cNvSpPr/>
          <p:nvPr/>
        </p:nvSpPr>
        <p:spPr>
          <a:xfrm>
            <a:off x="4544568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" name="Step text"/>
          <p:cNvSpPr txBox="1"/>
          <p:nvPr/>
        </p:nvSpPr>
        <p:spPr>
          <a:xfrm>
            <a:off x="4544568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en-US">
                <a:solidFill>
                  <a:srgbClr val="15302E"/>
                </a:solidFill>
                <a:latin typeface="Calibri"/>
                <a:cs typeface="Calibri"/>
              </a:rPr>
              <a:t>Say each word aloud, then its meaning.</a:t>
            </a:r>
          </a:p>
        </p:txBody>
      </p:sp>
      <p:sp>
        <p:nvSpPr>
          <p:cNvPr id="11" name="Step 3"/>
          <p:cNvSpPr/>
          <p:nvPr/>
        </p:nvSpPr>
        <p:spPr>
          <a:xfrm>
            <a:off x="7991855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 number"/>
          <p:cNvSpPr/>
          <p:nvPr/>
        </p:nvSpPr>
        <p:spPr>
          <a:xfrm>
            <a:off x="8220455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Step text"/>
          <p:cNvSpPr txBox="1"/>
          <p:nvPr/>
        </p:nvSpPr>
        <p:spPr>
          <a:xfrm>
            <a:off x="8220455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en-US">
                <a:solidFill>
                  <a:srgbClr val="15302E"/>
                </a:solidFill>
                <a:latin typeface="Calibri"/>
                <a:cs typeface="Calibri"/>
              </a:rPr>
              <a:t>Repeat the set 7 times.</a:t>
            </a:r>
          </a:p>
        </p:txBody>
      </p:sp>
      <p:sp>
        <p:nvSpPr>
          <p:cNvPr id="14" name="Step 4"/>
          <p:cNvSpPr/>
          <p:nvPr/>
        </p:nvSpPr>
        <p:spPr>
          <a:xfrm>
            <a:off x="640080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number"/>
          <p:cNvSpPr/>
          <p:nvPr/>
        </p:nvSpPr>
        <p:spPr>
          <a:xfrm>
            <a:off x="868680" y="44165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6" name="Step text"/>
          <p:cNvSpPr txBox="1"/>
          <p:nvPr/>
        </p:nvSpPr>
        <p:spPr>
          <a:xfrm>
            <a:off x="868680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en-US">
                <a:solidFill>
                  <a:srgbClr val="15302E"/>
                </a:solidFill>
                <a:latin typeface="Calibri"/>
                <a:cs typeface="Calibri"/>
              </a:rPr>
              <a:t>Hide the meanings (None) and read again.</a:t>
            </a:r>
          </a:p>
        </p:txBody>
      </p:sp>
      <p:sp>
        <p:nvSpPr>
          <p:cNvPr id="17" name="Step 5"/>
          <p:cNvSpPr/>
          <p:nvPr/>
        </p:nvSpPr>
        <p:spPr>
          <a:xfrm>
            <a:off x="4315968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 number"/>
          <p:cNvSpPr/>
          <p:nvPr/>
        </p:nvSpPr>
        <p:spPr>
          <a:xfrm>
            <a:off x="4544568" y="44165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9" name="Step text"/>
          <p:cNvSpPr txBox="1"/>
          <p:nvPr/>
        </p:nvSpPr>
        <p:spPr>
          <a:xfrm>
            <a:off x="4544568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en-US">
                <a:solidFill>
                  <a:srgbClr val="15302E"/>
                </a:solidFill>
                <a:latin typeface="Calibri"/>
                <a:cs typeface="Calibri"/>
              </a:rPr>
              <a:t>Practise the set in a quick quiz.</a:t>
            </a:r>
          </a:p>
        </p:txBody>
      </p:sp>
      <p:sp>
        <p:nvSpPr>
          <p:cNvPr id="20" name="Step 6"/>
          <p:cNvSpPr/>
          <p:nvPr/>
        </p:nvSpPr>
        <p:spPr>
          <a:xfrm>
            <a:off x="7991855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number"/>
          <p:cNvSpPr/>
          <p:nvPr/>
        </p:nvSpPr>
        <p:spPr>
          <a:xfrm>
            <a:off x="8220455" y="4416552"/>
            <a:ext cx="563270" cy="502920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" name="Step text"/>
          <p:cNvSpPr txBox="1"/>
          <p:nvPr/>
        </p:nvSpPr>
        <p:spPr>
          <a:xfrm>
            <a:off x="8220455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en-US">
                <a:solidFill>
                  <a:srgbClr val="15302E"/>
                </a:solidFill>
                <a:latin typeface="Calibri"/>
                <a:cs typeface="Calibri"/>
              </a:rPr>
              <a:t>Read a muṣḥaf without translation.</a:t>
            </a:r>
          </a:p>
        </p:txBody>
      </p:sp>
      <p:sp>
        <p:nvSpPr>
          <p:cNvPr id="23" name="Closing line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1F6F62"/>
                </a:solidFill>
                <a:latin typeface="Calibri"/>
                <a:cs typeface="Calibri"/>
              </a:rPr>
              <a:t>Then go on through the sūrah, and the whole Quran, the same way.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04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READER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A meaning under every word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Read any sūrah word by word, in English, Urdu or Hindi.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Show one or two languages, with the full āyah translation below.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Meanings fade as you learn them.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Tap None to test yourself, and tap a word to peek.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reader" descr="r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fade" descr="fa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05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WORD CARD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Every word opens up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Tap a word to see how it is built and what its root means.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Its parts in colour: </a:t>
            </a:r>
            <a:r>
              <a:rPr sz="1600" b="0" lang="ar-SA">
                <a:solidFill>
                  <a:srgbClr val="15302E"/>
                </a:solidFill>
                <a:latin typeface="Calibri"/>
                <a:cs typeface="Arial"/>
              </a:rPr>
              <a:t>وَ‎, فَ‎, ٱل‎ </a:t>
            </a: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and the endings.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The root's meaning from 7 classical Arabic dictionaries.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Word forms: how the verb changes, with the forms used in the Quran marked.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card" descr="c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forms" descr="for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06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SEARCH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The whole Quran at your fingertips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Find any āyah, or every place a word or its root appears.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Type 2:255 to jump straight to Āyat al-Kursī.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ar-SA">
                <a:solidFill>
                  <a:srgbClr val="15302E"/>
                </a:solidFill>
                <a:latin typeface="Calibri"/>
                <a:cs typeface="Arial"/>
              </a:rPr>
              <a:t>رحمة‎: 339 </a:t>
            </a: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times in 313 āyāt, with every form and spelling.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Open any result in its sūrah or on its muṣḥaf page.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search" descr="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results" descr="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07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PROGRESS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See how far you have come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Practise any set of āyāt and watch your share of the Quran grow.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Pick the meaning of each word. Mistakes come back at the end.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3 right answers and the word is yours, wherever it appears.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Progress for every sūrah, and for the whole Quran.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quiz" descr="qui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progress" descr="progr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08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3611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GAMES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Learning that feels like play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3434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Three quizzes and a honey jar keep you coming back.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Honeycomb: answer the words of an āyah to cross the comb.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Root challenge: find each word's root and its deep meaning.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Form Switch: turn a verb or a noun into another form.</a:t>
            </a:r>
          </a:p>
        </p:txBody>
      </p:sp>
      <p:sp>
        <p:nvSpPr>
          <p:cNvPr id="6" name="Phone shadow"/>
          <p:cNvSpPr/>
          <p:nvPr/>
        </p:nvSpPr>
        <p:spPr>
          <a:xfrm>
            <a:off x="5312664" y="94183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honey" descr="hon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86868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7534656" y="57607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rootq" descr="root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50292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Phone shadow"/>
          <p:cNvSpPr/>
          <p:nvPr/>
        </p:nvSpPr>
        <p:spPr>
          <a:xfrm>
            <a:off x="9756648" y="130759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formq" descr="form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123444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09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3749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CLASSROOM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480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Built for the classroom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4805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A team game for the class screen, and a profile for each class.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Two teams race across a 37-cell honeycomb and steal cells with right answers.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Each cell shows its word's first letter as a clue.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Clear a class's progress after the lesson.</a:t>
            </a:r>
          </a:p>
        </p:txBody>
      </p:sp>
      <p:sp>
        <p:nvSpPr>
          <p:cNvPr id="6" name="Window shadow"/>
          <p:cNvSpPr/>
          <p:nvPr/>
        </p:nvSpPr>
        <p:spPr>
          <a:xfrm>
            <a:off x="5504688" y="996696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 frame"/>
          <p:cNvSpPr/>
          <p:nvPr/>
        </p:nvSpPr>
        <p:spPr>
          <a:xfrm>
            <a:off x="5440680" y="914400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dot"/>
          <p:cNvSpPr/>
          <p:nvPr/>
        </p:nvSpPr>
        <p:spPr>
          <a:xfrm>
            <a:off x="5568696" y="987552"/>
            <a:ext cx="91440" cy="91440"/>
          </a:xfrm>
          <a:prstGeom prst="ellipse">
            <a:avLst/>
          </a:prstGeom>
          <a:solidFill>
            <a:srgbClr val="E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 dot"/>
          <p:cNvSpPr/>
          <p:nvPr/>
        </p:nvSpPr>
        <p:spPr>
          <a:xfrm>
            <a:off x="5733288" y="987552"/>
            <a:ext cx="91440" cy="91440"/>
          </a:xfrm>
          <a:prstGeom prst="ellipse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dot"/>
          <p:cNvSpPr/>
          <p:nvPr/>
        </p:nvSpPr>
        <p:spPr>
          <a:xfrm>
            <a:off x="5897880" y="987552"/>
            <a:ext cx="91440" cy="91440"/>
          </a:xfrm>
          <a:prstGeom prst="ellipse">
            <a:avLst/>
          </a:prstGeom>
          <a:solidFill>
            <a:srgbClr val="6CC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deskteams" descr="desktea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152144"/>
            <a:ext cx="5065776" cy="3021583"/>
          </a:xfrm>
          <a:prstGeom prst="rect">
            <a:avLst/>
          </a:prstGeom>
        </p:spPr>
      </p:pic>
      <p:sp>
        <p:nvSpPr>
          <p:cNvPr id="12" name="Phone shadow"/>
          <p:cNvSpPr/>
          <p:nvPr/>
        </p:nvSpPr>
        <p:spPr>
          <a:xfrm>
            <a:off x="9701784" y="2221992"/>
            <a:ext cx="1920240" cy="3801090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teams" descr="te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148840"/>
            <a:ext cx="1920240" cy="3801090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MUṢḤAF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Read the real muṣḥaf, in colour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The Indo-Pak 15-line hifz muṣḥaf, with tajweed colours.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610 pages, and every page ends on an āyah.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A guide to every tajweed colour, with examples.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Tap any word on the page for its meaning.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447391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mushaf" descr="musha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447391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tajweed" descr="tajwe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3611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WHY REVEALED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The story behind the āyah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3434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Tap 📜 Why revealed to read what happened when an āyah came down.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Only authentic reports, from al-Suyūṭī's Lubāb al-Nuqūl.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Each report shows its grade, such as Ṣaḥīḥ: al-Bukhārī and Muslim.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Read it in English, Urdu or Hindi. The Arabic is one tap away.</a:t>
            </a:r>
          </a:p>
        </p:txBody>
      </p:sp>
      <p:sp>
        <p:nvSpPr>
          <p:cNvPr id="6" name="Phone shadow"/>
          <p:cNvSpPr/>
          <p:nvPr/>
        </p:nvSpPr>
        <p:spPr>
          <a:xfrm>
            <a:off x="5312664" y="94183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why" descr="wh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86868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7534656" y="57607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whypanel" descr="whypa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50292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Phone shadow"/>
          <p:cNvSpPr/>
          <p:nvPr/>
        </p:nvSpPr>
        <p:spPr>
          <a:xfrm>
            <a:off x="9756648" y="130759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whyar" descr="why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123444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HINDI LETTERS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No Arabic letters yet? Start anyway.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Every word can be shown in Hindi letters, alone or under the Arabic.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ar-SA">
                <a:solidFill>
                  <a:srgbClr val="15302E"/>
                </a:solidFill>
                <a:latin typeface="Calibri"/>
                <a:cs typeface="Arial"/>
              </a:rPr>
              <a:t>ٱلَّذِينَ‎ </a:t>
            </a: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is written </a:t>
            </a:r>
            <a:r>
              <a:rPr sz="1600" b="0" lang="hi-IN">
                <a:solidFill>
                  <a:srgbClr val="15302E"/>
                </a:solidFill>
                <a:latin typeface="Calibri"/>
                <a:cs typeface="Nirmala UI"/>
              </a:rPr>
              <a:t>अल्लज़ी-न. </a:t>
            </a: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The "-" marks a short "a" that is said.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An āyah's last word is written as read at a stop: </a:t>
            </a:r>
            <a:r>
              <a:rPr sz="1600" b="0" lang="hi-IN">
                <a:solidFill>
                  <a:srgbClr val="15302E"/>
                </a:solidFill>
                <a:latin typeface="Calibri"/>
                <a:cs typeface="Nirmala UI"/>
              </a:rPr>
              <a:t>लिल्मुत्तक़ीन.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Quizzes switch to Hindi letters too.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hindi" descr="hind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hquiz" descr="hqui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3749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ANYWHERE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480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On your phone, tablet or computer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4805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Calibri"/>
                <a:cs typeface="Calibri"/>
              </a:rPr>
              <a:t>Install it once and read anywhere, even without internet.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Works offline after the first visit.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Light or dark, whatever the phone's setting.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Calibri"/>
                <a:cs typeface="Calibri"/>
              </a:rPr>
              <a:t>On a computer the word card opens beside the page.</a:t>
            </a:r>
          </a:p>
        </p:txBody>
      </p:sp>
      <p:sp>
        <p:nvSpPr>
          <p:cNvPr id="6" name="Window shadow"/>
          <p:cNvSpPr/>
          <p:nvPr/>
        </p:nvSpPr>
        <p:spPr>
          <a:xfrm>
            <a:off x="5504688" y="996696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 frame"/>
          <p:cNvSpPr/>
          <p:nvPr/>
        </p:nvSpPr>
        <p:spPr>
          <a:xfrm>
            <a:off x="5440680" y="914400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dot"/>
          <p:cNvSpPr/>
          <p:nvPr/>
        </p:nvSpPr>
        <p:spPr>
          <a:xfrm>
            <a:off x="5568696" y="987552"/>
            <a:ext cx="91440" cy="91440"/>
          </a:xfrm>
          <a:prstGeom prst="ellipse">
            <a:avLst/>
          </a:prstGeom>
          <a:solidFill>
            <a:srgbClr val="E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 dot"/>
          <p:cNvSpPr/>
          <p:nvPr/>
        </p:nvSpPr>
        <p:spPr>
          <a:xfrm>
            <a:off x="5733288" y="987552"/>
            <a:ext cx="91440" cy="91440"/>
          </a:xfrm>
          <a:prstGeom prst="ellipse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dot"/>
          <p:cNvSpPr/>
          <p:nvPr/>
        </p:nvSpPr>
        <p:spPr>
          <a:xfrm>
            <a:off x="5897880" y="987552"/>
            <a:ext cx="91440" cy="91440"/>
          </a:xfrm>
          <a:prstGeom prst="ellipse">
            <a:avLst/>
          </a:prstGeom>
          <a:solidFill>
            <a:srgbClr val="6CC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desk" descr="de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152144"/>
            <a:ext cx="5065776" cy="3021583"/>
          </a:xfrm>
          <a:prstGeom prst="rect">
            <a:avLst/>
          </a:prstGeom>
        </p:spPr>
      </p:pic>
      <p:sp>
        <p:nvSpPr>
          <p:cNvPr id="12" name="Phone shadow"/>
          <p:cNvSpPr/>
          <p:nvPr/>
        </p:nvSpPr>
        <p:spPr>
          <a:xfrm>
            <a:off x="9701784" y="2221992"/>
            <a:ext cx="1920240" cy="3801090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dark" descr="d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148840"/>
            <a:ext cx="1920240" cy="3801090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9784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B8740F"/>
                </a:solidFill>
                <a:latin typeface="Calibri"/>
                <a:cs typeface="Calibri"/>
              </a:rPr>
              <a:t>WHO IT'S FOR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15302E"/>
                </a:solidFill>
                <a:latin typeface="Cambria"/>
                <a:cs typeface="Cambria"/>
              </a:rPr>
              <a:t>For everyone who loves the Quran</a:t>
            </a:r>
          </a:p>
        </p:txBody>
      </p:sp>
      <p:sp>
        <p:nvSpPr>
          <p:cNvPr id="5" name="Card 1"/>
          <p:cNvSpPr/>
          <p:nvPr/>
        </p:nvSpPr>
        <p:spPr>
          <a:xfrm>
            <a:off x="640080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mark"/>
          <p:cNvSpPr/>
          <p:nvPr/>
        </p:nvSpPr>
        <p:spPr>
          <a:xfrm>
            <a:off x="868680" y="2651760"/>
            <a:ext cx="430133" cy="38404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itle"/>
          <p:cNvSpPr txBox="1"/>
          <p:nvPr/>
        </p:nvSpPr>
        <p:spPr>
          <a:xfrm>
            <a:off x="1417319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en-US">
                <a:solidFill>
                  <a:srgbClr val="15302E"/>
                </a:solidFill>
                <a:latin typeface="Cambria"/>
                <a:cs typeface="Cambria"/>
              </a:rPr>
              <a:t>Learners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868680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en-US">
                <a:solidFill>
                  <a:srgbClr val="5D716E"/>
                </a:solidFill>
                <a:latin typeface="Calibri"/>
                <a:cs typeface="Calibri"/>
              </a:rPr>
              <a:t>Anyone who reads Arabic letters and wants the meaning.</a:t>
            </a:r>
          </a:p>
        </p:txBody>
      </p:sp>
      <p:sp>
        <p:nvSpPr>
          <p:cNvPr id="9" name="Card 2"/>
          <p:cNvSpPr/>
          <p:nvPr/>
        </p:nvSpPr>
        <p:spPr>
          <a:xfrm>
            <a:off x="4315968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mark"/>
          <p:cNvSpPr/>
          <p:nvPr/>
        </p:nvSpPr>
        <p:spPr>
          <a:xfrm>
            <a:off x="4544568" y="2651760"/>
            <a:ext cx="430133" cy="38404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title"/>
          <p:cNvSpPr txBox="1"/>
          <p:nvPr/>
        </p:nvSpPr>
        <p:spPr>
          <a:xfrm>
            <a:off x="5093207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en-US">
                <a:solidFill>
                  <a:srgbClr val="15302E"/>
                </a:solidFill>
                <a:latin typeface="Cambria"/>
                <a:cs typeface="Cambria"/>
              </a:rPr>
              <a:t>Hifz students</a:t>
            </a:r>
          </a:p>
        </p:txBody>
      </p:sp>
      <p:sp>
        <p:nvSpPr>
          <p:cNvPr id="12" name="Card text"/>
          <p:cNvSpPr txBox="1"/>
          <p:nvPr/>
        </p:nvSpPr>
        <p:spPr>
          <a:xfrm>
            <a:off x="4544568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en-US">
                <a:solidFill>
                  <a:srgbClr val="5D716E"/>
                </a:solidFill>
                <a:latin typeface="Calibri"/>
                <a:cs typeface="Calibri"/>
              </a:rPr>
              <a:t>Understand what you memorise, on the same 15-line page.</a:t>
            </a:r>
          </a:p>
        </p:txBody>
      </p:sp>
      <p:sp>
        <p:nvSpPr>
          <p:cNvPr id="13" name="Card 3"/>
          <p:cNvSpPr/>
          <p:nvPr/>
        </p:nvSpPr>
        <p:spPr>
          <a:xfrm>
            <a:off x="7991855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mark"/>
          <p:cNvSpPr/>
          <p:nvPr/>
        </p:nvSpPr>
        <p:spPr>
          <a:xfrm>
            <a:off x="8220455" y="2651760"/>
            <a:ext cx="430133" cy="384048"/>
          </a:xfrm>
          <a:prstGeom prst="hexagon">
            <a:avLst/>
          </a:prstGeom>
          <a:solidFill>
            <a:srgbClr val="B8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title"/>
          <p:cNvSpPr txBox="1"/>
          <p:nvPr/>
        </p:nvSpPr>
        <p:spPr>
          <a:xfrm>
            <a:off x="8769095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en-US">
                <a:solidFill>
                  <a:srgbClr val="15302E"/>
                </a:solidFill>
                <a:latin typeface="Cambria"/>
                <a:cs typeface="Cambria"/>
              </a:rPr>
              <a:t>Teachers</a:t>
            </a:r>
          </a:p>
        </p:txBody>
      </p:sp>
      <p:sp>
        <p:nvSpPr>
          <p:cNvPr id="16" name="Card text"/>
          <p:cNvSpPr txBox="1"/>
          <p:nvPr/>
        </p:nvSpPr>
        <p:spPr>
          <a:xfrm>
            <a:off x="8220455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en-US">
                <a:solidFill>
                  <a:srgbClr val="5D716E"/>
                </a:solidFill>
                <a:latin typeface="Calibri"/>
                <a:cs typeface="Calibri"/>
              </a:rPr>
              <a:t>Team games and class profiles for the classroom.</a:t>
            </a:r>
          </a:p>
        </p:txBody>
      </p:sp>
      <p:sp>
        <p:nvSpPr>
          <p:cNvPr id="17" name="Card 4"/>
          <p:cNvSpPr/>
          <p:nvPr/>
        </p:nvSpPr>
        <p:spPr>
          <a:xfrm>
            <a:off x="640080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mark"/>
          <p:cNvSpPr/>
          <p:nvPr/>
        </p:nvSpPr>
        <p:spPr>
          <a:xfrm>
            <a:off x="868680" y="4572000"/>
            <a:ext cx="430133" cy="384048"/>
          </a:xfrm>
          <a:prstGeom prst="hexagon">
            <a:avLst/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title"/>
          <p:cNvSpPr txBox="1"/>
          <p:nvPr/>
        </p:nvSpPr>
        <p:spPr>
          <a:xfrm>
            <a:off x="1417319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en-US">
                <a:solidFill>
                  <a:srgbClr val="15302E"/>
                </a:solidFill>
                <a:latin typeface="Cambria"/>
                <a:cs typeface="Cambria"/>
              </a:rPr>
              <a:t>Families</a:t>
            </a:r>
          </a:p>
        </p:txBody>
      </p:sp>
      <p:sp>
        <p:nvSpPr>
          <p:cNvPr id="20" name="Card text"/>
          <p:cNvSpPr txBox="1"/>
          <p:nvPr/>
        </p:nvSpPr>
        <p:spPr>
          <a:xfrm>
            <a:off x="868680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en-US">
                <a:solidFill>
                  <a:srgbClr val="5D716E"/>
                </a:solidFill>
                <a:latin typeface="Calibri"/>
                <a:cs typeface="Calibri"/>
              </a:rPr>
              <a:t>Learn together, a few āyāt a day.</a:t>
            </a:r>
          </a:p>
        </p:txBody>
      </p:sp>
      <p:sp>
        <p:nvSpPr>
          <p:cNvPr id="21" name="Card 5"/>
          <p:cNvSpPr/>
          <p:nvPr/>
        </p:nvSpPr>
        <p:spPr>
          <a:xfrm>
            <a:off x="4315968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mark"/>
          <p:cNvSpPr/>
          <p:nvPr/>
        </p:nvSpPr>
        <p:spPr>
          <a:xfrm>
            <a:off x="4544568" y="4572000"/>
            <a:ext cx="430133" cy="38404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title"/>
          <p:cNvSpPr txBox="1"/>
          <p:nvPr/>
        </p:nvSpPr>
        <p:spPr>
          <a:xfrm>
            <a:off x="5093207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en-US">
                <a:solidFill>
                  <a:srgbClr val="15302E"/>
                </a:solidFill>
                <a:latin typeface="Cambria"/>
                <a:cs typeface="Cambria"/>
              </a:rPr>
              <a:t>New readers</a:t>
            </a:r>
          </a:p>
        </p:txBody>
      </p:sp>
      <p:sp>
        <p:nvSpPr>
          <p:cNvPr id="24" name="Card text"/>
          <p:cNvSpPr txBox="1"/>
          <p:nvPr/>
        </p:nvSpPr>
        <p:spPr>
          <a:xfrm>
            <a:off x="4544568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en-US">
                <a:solidFill>
                  <a:srgbClr val="5D716E"/>
                </a:solidFill>
                <a:latin typeface="Calibri"/>
                <a:cs typeface="Calibri"/>
              </a:rPr>
              <a:t>Start in Hindi letters, before the Arabic script.</a:t>
            </a:r>
          </a:p>
        </p:txBody>
      </p:sp>
      <p:sp>
        <p:nvSpPr>
          <p:cNvPr id="25" name="Card 6"/>
          <p:cNvSpPr/>
          <p:nvPr/>
        </p:nvSpPr>
        <p:spPr>
          <a:xfrm>
            <a:off x="7991855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mark"/>
          <p:cNvSpPr/>
          <p:nvPr/>
        </p:nvSpPr>
        <p:spPr>
          <a:xfrm>
            <a:off x="8220455" y="4572000"/>
            <a:ext cx="430133" cy="38404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title"/>
          <p:cNvSpPr txBox="1"/>
          <p:nvPr/>
        </p:nvSpPr>
        <p:spPr>
          <a:xfrm>
            <a:off x="8769095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en-US">
                <a:solidFill>
                  <a:srgbClr val="15302E"/>
                </a:solidFill>
                <a:latin typeface="Cambria"/>
                <a:cs typeface="Cambria"/>
              </a:rPr>
              <a:t>Free for all</a:t>
            </a:r>
          </a:p>
        </p:txBody>
      </p:sp>
      <p:sp>
        <p:nvSpPr>
          <p:cNvPr id="28" name="Card text"/>
          <p:cNvSpPr txBox="1"/>
          <p:nvPr/>
        </p:nvSpPr>
        <p:spPr>
          <a:xfrm>
            <a:off x="8220455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en-US">
                <a:solidFill>
                  <a:srgbClr val="5D716E"/>
                </a:solidFill>
                <a:latin typeface="Calibri"/>
                <a:cs typeface="Calibri"/>
              </a:rPr>
              <a:t>No ads, no sign-up, no tracking. Non-commercial.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30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6217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E9A227"/>
                </a:solidFill>
                <a:latin typeface="Calibri"/>
                <a:cs typeface="Calibri"/>
              </a:rPr>
              <a:t>START TODAY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6949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lang="en-US">
                <a:solidFill>
                  <a:srgbClr val="FFFFFF"/>
                </a:solidFill>
                <a:latin typeface="Cambria"/>
                <a:cs typeface="Cambria"/>
              </a:rPr>
              <a:t>Open it. Add it. Share it.</a:t>
            </a:r>
          </a:p>
        </p:txBody>
      </p:sp>
      <p:sp>
        <p:nvSpPr>
          <p:cNvPr id="5" name="Link"/>
          <p:cNvSpPr/>
          <p:nvPr/>
        </p:nvSpPr>
        <p:spPr>
          <a:xfrm>
            <a:off x="640080" y="2240280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lang="en-US">
                <a:solidFill>
                  <a:srgbClr val="122A27"/>
                </a:solidFill>
                <a:latin typeface="Calibri"/>
                <a:cs typeface="Calibri"/>
              </a:rPr>
              <a:t>https://marshadkc.github.io/quranreader</a:t>
            </a:r>
          </a:p>
        </p:txBody>
      </p:sp>
      <p:sp>
        <p:nvSpPr>
          <p:cNvPr id="6" name="Step label"/>
          <p:cNvSpPr txBox="1"/>
          <p:nvPr/>
        </p:nvSpPr>
        <p:spPr>
          <a:xfrm>
            <a:off x="640080" y="30175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9A227"/>
                </a:solidFill>
                <a:latin typeface="Calibri"/>
                <a:cs typeface="Calibri"/>
              </a:rPr>
              <a:t>Android</a:t>
            </a:r>
          </a:p>
        </p:txBody>
      </p:sp>
      <p:sp>
        <p:nvSpPr>
          <p:cNvPr id="7" name="Step text"/>
          <p:cNvSpPr txBox="1"/>
          <p:nvPr/>
        </p:nvSpPr>
        <p:spPr>
          <a:xfrm>
            <a:off x="2148840" y="30175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lang="en-US">
                <a:solidFill>
                  <a:srgbClr val="FFFFFF"/>
                </a:solidFill>
                <a:latin typeface="Calibri"/>
                <a:cs typeface="Calibri"/>
              </a:rPr>
              <a:t>Open the link in Chrome, tap ⋮ and choose "Add to Home screen".</a:t>
            </a:r>
          </a:p>
        </p:txBody>
      </p:sp>
      <p:sp>
        <p:nvSpPr>
          <p:cNvPr id="8" name="Step label"/>
          <p:cNvSpPr txBox="1"/>
          <p:nvPr/>
        </p:nvSpPr>
        <p:spPr>
          <a:xfrm>
            <a:off x="640080" y="373075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9A227"/>
                </a:solidFill>
                <a:latin typeface="Calibri"/>
                <a:cs typeface="Calibri"/>
              </a:rPr>
              <a:t>iPhone</a:t>
            </a:r>
          </a:p>
        </p:txBody>
      </p:sp>
      <p:sp>
        <p:nvSpPr>
          <p:cNvPr id="9" name="Step text"/>
          <p:cNvSpPr txBox="1"/>
          <p:nvPr/>
        </p:nvSpPr>
        <p:spPr>
          <a:xfrm>
            <a:off x="2148840" y="373075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lang="en-US">
                <a:solidFill>
                  <a:srgbClr val="FFFFFF"/>
                </a:solidFill>
                <a:latin typeface="Calibri"/>
                <a:cs typeface="Calibri"/>
              </a:rPr>
              <a:t>Open it in Safari, tap Share and choose "Add to Home Screen".</a:t>
            </a:r>
          </a:p>
        </p:txBody>
      </p:sp>
      <p:sp>
        <p:nvSpPr>
          <p:cNvPr id="10" name="Step label"/>
          <p:cNvSpPr txBox="1"/>
          <p:nvPr/>
        </p:nvSpPr>
        <p:spPr>
          <a:xfrm>
            <a:off x="640080" y="444398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9A227"/>
                </a:solidFill>
                <a:latin typeface="Calibri"/>
                <a:cs typeface="Calibri"/>
              </a:rPr>
              <a:t>Share</a:t>
            </a:r>
          </a:p>
        </p:txBody>
      </p:sp>
      <p:sp>
        <p:nvSpPr>
          <p:cNvPr id="11" name="Step text"/>
          <p:cNvSpPr txBox="1"/>
          <p:nvPr/>
        </p:nvSpPr>
        <p:spPr>
          <a:xfrm>
            <a:off x="2148840" y="4443984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lang="en-US">
                <a:solidFill>
                  <a:srgbClr val="FFFFFF"/>
                </a:solidFill>
                <a:latin typeface="Calibri"/>
                <a:cs typeface="Calibri"/>
              </a:rPr>
              <a:t>Tap "Share this app" on the home page to send it on WhatsApp.</a:t>
            </a:r>
          </a:p>
        </p:txBody>
      </p:sp>
      <p:sp>
        <p:nvSpPr>
          <p:cNvPr id="12" name="Credits"/>
          <p:cNvSpPr txBox="1"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>
                <a:solidFill>
                  <a:srgbClr val="E9A227"/>
                </a:solidFill>
                <a:latin typeface="Calibri"/>
                <a:cs typeface="Calibri"/>
              </a:rPr>
              <a:t>Credits</a:t>
            </a:r>
          </a:p>
          <a:p>
            <a:pPr algn="l">
              <a:lnSpc>
                <a:spcPct val="100000"/>
              </a:lnSpc>
            </a:pPr>
            <a:r>
              <a:rPr sz="1050" b="0" lang="en-US">
                <a:solidFill>
                  <a:srgbClr val="9FCFC3"/>
                </a:solidFill>
                <a:latin typeface="Calibri"/>
                <a:cs typeface="Calibri"/>
              </a:rPr>
              <a:t>Arabic text, word parts and roots: Quranic Arabic Corpus (quran-morphology). Word meanings: Quran.com; Urdu and Hindi by Al-Huda International. Āyah translations: Saheeh International, Fateh Muhammad Jalandhari, Azizul Haque al-Umari. Muṣḥaf layout: QUL by Tarteel. Root meanings: classical dictionaries via tafsir.app. IndoPak font: QuranWBW.</a:t>
            </a:r>
          </a:p>
        </p:txBody>
      </p:sp>
      <p:sp>
        <p:nvSpPr>
          <p:cNvPr id="13" name="Shadow"/>
          <p:cNvSpPr/>
          <p:nvPr/>
        </p:nvSpPr>
        <p:spPr>
          <a:xfrm>
            <a:off x="7735824" y="2313432"/>
            <a:ext cx="3931920" cy="1769364"/>
          </a:xfrm>
          <a:prstGeom prst="roundRect">
            <a:avLst>
              <a:gd name="adj" fmla="val 8000"/>
            </a:avLst>
          </a:prstGeom>
          <a:solidFill>
            <a:srgbClr val="0A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hare card" descr="The Share this app card on the home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240280"/>
            <a:ext cx="3931920" cy="1769364"/>
          </a:xfrm>
          <a:prstGeom prst="roundRect">
            <a:avLst/>
          </a:prstGeom>
          <a:ln w="25400">
            <a:solidFill>
              <a:srgbClr val="E9A227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9FCFC3"/>
                </a:solidFill>
                <a:latin typeface="Calibri"/>
                <a:cs typeface="Calibri"/>
              </a:rPr>
              <a:t>Free · Non-commercial · marshadkc.github.io/quranreader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9FCFC3"/>
                </a:solidFill>
                <a:latin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Quran Word Reader · Understand the Quran in its own words</dc:title>
  <dc:subject>Features</dc:subject>
  <dc:creator>Quran Word Reader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