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"/>
          <p:cNvSpPr/>
          <p:nvPr/>
        </p:nvSpPr>
        <p:spPr>
          <a:xfrm>
            <a:off x="640080" y="502920"/>
            <a:ext cx="634959" cy="56692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"/>
          <p:cNvSpPr/>
          <p:nvPr/>
        </p:nvSpPr>
        <p:spPr>
          <a:xfrm>
            <a:off x="1216152" y="822960"/>
            <a:ext cx="634959" cy="566928"/>
          </a:xfrm>
          <a:prstGeom prst="hexagon">
            <a:avLst/>
          </a:prstGeom>
          <a:solidFill>
            <a:srgbClr val="E9D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"/>
          <p:cNvSpPr/>
          <p:nvPr/>
        </p:nvSpPr>
        <p:spPr>
          <a:xfrm>
            <a:off x="1216152" y="182880"/>
            <a:ext cx="634959" cy="56692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pp name"/>
          <p:cNvSpPr txBox="1"/>
          <p:nvPr/>
        </p:nvSpPr>
        <p:spPr>
          <a:xfrm>
            <a:off x="640080" y="17373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E9A227"/>
                </a:solidFill>
                <a:latin typeface="Nirmala UI"/>
                <a:cs typeface="Nirmala UI"/>
              </a:rPr>
              <a:t>Quran Word Reader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2286000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 lang="hi-IN">
                <a:solidFill>
                  <a:srgbClr val="FFFFFF"/>
                </a:solidFill>
                <a:latin typeface="Nirmala UI"/>
                <a:cs typeface="Nirmala UI"/>
              </a:rPr>
              <a:t>क़ुरआन को उसके अपने लफ़्ज़ों में समझें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43434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lang="hi-IN">
                <a:solidFill>
                  <a:srgbClr val="9FCFC3"/>
                </a:solidFill>
                <a:latin typeface="Nirmala UI"/>
                <a:cs typeface="Nirmala UI"/>
              </a:rPr>
              <a:t>हर अरबी लफ़्ज़ का मतलब सीखें, और क़ुरआन को बिना तर्जुमे के पढ़ें।</a:t>
            </a:r>
          </a:p>
        </p:txBody>
      </p:sp>
      <p:sp>
        <p:nvSpPr>
          <p:cNvPr id="8" name="Link"/>
          <p:cNvSpPr/>
          <p:nvPr/>
        </p:nvSpPr>
        <p:spPr>
          <a:xfrm>
            <a:off x="640080" y="53492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9" name="Badges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lang="hi-IN">
                <a:solidFill>
                  <a:srgbClr val="9FCFC3"/>
                </a:solidFill>
                <a:latin typeface="Nirmala UI"/>
                <a:cs typeface="Nirmala UI"/>
              </a:rPr>
              <a:t>मुफ़्त  ·  कोई विज्ञापन नहीं  ·  </a:t>
            </a:r>
            <a:r>
              <a:rPr sz="1300" b="0" lang="en-US">
                <a:solidFill>
                  <a:srgbClr val="9FCFC3"/>
                </a:solidFill>
                <a:latin typeface="Nirmala UI"/>
                <a:cs typeface="Nirmala UI"/>
              </a:rPr>
              <a:t>English · </a:t>
            </a:r>
            <a:r>
              <a:rPr sz="1300" b="0" lang="ar-SA">
                <a:solidFill>
                  <a:srgbClr val="9FCFC3"/>
                </a:solidFill>
                <a:latin typeface="Nirmala UI"/>
                <a:cs typeface="Arial"/>
              </a:rPr>
              <a:t>اردو‎ · </a:t>
            </a:r>
            <a:r>
              <a:rPr sz="1300" b="0" lang="hi-IN">
                <a:solidFill>
                  <a:srgbClr val="9FCFC3"/>
                </a:solidFill>
                <a:latin typeface="Nirmala UI"/>
                <a:cs typeface="Nirmala UI"/>
              </a:rPr>
              <a:t>हिंदी</a:t>
            </a:r>
          </a:p>
        </p:txBody>
      </p:sp>
      <p:sp>
        <p:nvSpPr>
          <p:cNvPr id="10" name="Phone shadow"/>
          <p:cNvSpPr/>
          <p:nvPr/>
        </p:nvSpPr>
        <p:spPr>
          <a:xfrm>
            <a:off x="6318503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Phone shadow"/>
          <p:cNvSpPr/>
          <p:nvPr/>
        </p:nvSpPr>
        <p:spPr>
          <a:xfrm>
            <a:off x="9610344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honey" descr="h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Phone shadow"/>
          <p:cNvSpPr/>
          <p:nvPr/>
        </p:nvSpPr>
        <p:spPr>
          <a:xfrm>
            <a:off x="7781544" y="484632"/>
            <a:ext cx="2697480" cy="5339627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fade" descr="fa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11480"/>
            <a:ext cx="2697480" cy="5339627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hi-IN">
                <a:solidFill>
                  <a:srgbClr val="E9A227"/>
                </a:solidFill>
                <a:latin typeface="Nirmala UI"/>
                <a:cs typeface="Nirmala UI"/>
              </a:rPr>
              <a:t>क्यों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234440"/>
            <a:ext cx="6675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lang="hi-IN">
                <a:solidFill>
                  <a:srgbClr val="FFFFFF"/>
                </a:solidFill>
                <a:latin typeface="Nirmala UI"/>
                <a:cs typeface="Nirmala UI"/>
              </a:rPr>
              <a:t>आप रोज़ तिलावत करते हैं। अब हर लफ़्ज़ समझें।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40080" y="406908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lang="hi-IN">
                <a:solidFill>
                  <a:srgbClr val="9FCFC3"/>
                </a:solidFill>
                <a:latin typeface="Nirmala UI"/>
                <a:cs typeface="Nirmala UI"/>
              </a:rPr>
              <a:t>हम में से ज़्यादातर लोग क़ुरआन अरबी में पढ़ते हैं, मगर उसे सिर्फ़ तर्जुमे से समझते हैं। </a:t>
            </a:r>
            <a:r>
              <a:rPr sz="1900" b="0" lang="en-US">
                <a:solidFill>
                  <a:srgbClr val="9FCFC3"/>
                </a:solidFill>
                <a:latin typeface="Nirmala UI"/>
                <a:cs typeface="Nirmala UI"/>
              </a:rPr>
              <a:t>Quran Word Reader </a:t>
            </a:r>
            <a:r>
              <a:rPr sz="1900" b="0" lang="hi-IN">
                <a:solidFill>
                  <a:srgbClr val="9FCFC3"/>
                </a:solidFill>
                <a:latin typeface="Nirmala UI"/>
                <a:cs typeface="Nirmala UI"/>
              </a:rPr>
              <a:t>ख़ुद लफ़्ज़ सिखाता है, ताकि अरबी पन्ना आपसे सीधे बात करे।</a:t>
            </a:r>
          </a:p>
        </p:txBody>
      </p:sp>
      <p:sp>
        <p:nvSpPr>
          <p:cNvPr id="5" name="Phone shadow"/>
          <p:cNvSpPr/>
          <p:nvPr/>
        </p:nvSpPr>
        <p:spPr>
          <a:xfrm>
            <a:off x="8558784" y="576072"/>
            <a:ext cx="2880360" cy="5701635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shot none" descr="n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02920"/>
            <a:ext cx="2880360" cy="5701635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10149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ख़याल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तर्जुमे को धीरे-धीरे ग़ायब होते देखें</a:t>
            </a:r>
          </a:p>
        </p:txBody>
      </p:sp>
      <p:sp>
        <p:nvSpPr>
          <p:cNvPr id="5" name="Stage"/>
          <p:cNvSpPr txBox="1"/>
          <p:nvPr/>
        </p:nvSpPr>
        <p:spPr>
          <a:xfrm>
            <a:off x="476859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hi-IN">
                <a:solidFill>
                  <a:srgbClr val="B8740F"/>
                </a:solidFill>
                <a:latin typeface="Nirmala UI"/>
                <a:cs typeface="Nirmala UI"/>
              </a:rPr>
              <a:t>शुरुआत</a:t>
            </a:r>
          </a:p>
          <a:p>
            <a:pPr algn="ctr">
              <a:lnSpc>
                <a:spcPct val="100000"/>
              </a:lnSpc>
            </a:pPr>
            <a:r>
              <a:rPr sz="1500" b="0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के नीचे उसका मतलब</a:t>
            </a:r>
          </a:p>
        </p:txBody>
      </p:sp>
      <p:sp>
        <p:nvSpPr>
          <p:cNvPr id="6" name="Phone shadow"/>
          <p:cNvSpPr/>
          <p:nvPr/>
        </p:nvSpPr>
        <p:spPr>
          <a:xfrm>
            <a:off x="897483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हर लफ़्ज़ के नीचे उसका मतल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9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Arrow"/>
          <p:cNvSpPr/>
          <p:nvPr/>
        </p:nvSpPr>
        <p:spPr>
          <a:xfrm>
            <a:off x="3823563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"/>
          <p:cNvSpPr txBox="1"/>
          <p:nvPr/>
        </p:nvSpPr>
        <p:spPr>
          <a:xfrm>
            <a:off x="4472787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hi-IN">
                <a:solidFill>
                  <a:srgbClr val="B8740F"/>
                </a:solidFill>
                <a:latin typeface="Nirmala UI"/>
                <a:cs typeface="Nirmala UI"/>
              </a:rPr>
              <a:t>सीखते हुए</a:t>
            </a:r>
          </a:p>
          <a:p>
            <a:pPr algn="ctr">
              <a:lnSpc>
                <a:spcPct val="100000"/>
              </a:lnSpc>
            </a:pPr>
            <a:r>
              <a:rPr sz="1500" b="0" lang="hi-IN">
                <a:solidFill>
                  <a:srgbClr val="15302E"/>
                </a:solidFill>
                <a:latin typeface="Nirmala UI"/>
                <a:cs typeface="Nirmala UI"/>
              </a:rPr>
              <a:t>जो लफ़्ज़ सीख लिया, उसका मतलब हल्का</a:t>
            </a:r>
          </a:p>
        </p:txBody>
      </p:sp>
      <p:sp>
        <p:nvSpPr>
          <p:cNvPr id="10" name="Phone shadow"/>
          <p:cNvSpPr/>
          <p:nvPr/>
        </p:nvSpPr>
        <p:spPr>
          <a:xfrm>
            <a:off x="4893411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ade" descr="जो लफ़्ज़ सीख लिया, उसका मतलब हल्क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47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Arrow"/>
          <p:cNvSpPr/>
          <p:nvPr/>
        </p:nvSpPr>
        <p:spPr>
          <a:xfrm>
            <a:off x="7819491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ge"/>
          <p:cNvSpPr txBox="1"/>
          <p:nvPr/>
        </p:nvSpPr>
        <p:spPr>
          <a:xfrm>
            <a:off x="8468715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lang="hi-IN">
                <a:solidFill>
                  <a:srgbClr val="B8740F"/>
                </a:solidFill>
                <a:latin typeface="Nirmala UI"/>
                <a:cs typeface="Nirmala UI"/>
              </a:rPr>
              <a:t>मंज़िल</a:t>
            </a:r>
          </a:p>
          <a:p>
            <a:pPr algn="ctr">
              <a:lnSpc>
                <a:spcPct val="100000"/>
              </a:lnSpc>
            </a:pPr>
            <a:r>
              <a:rPr sz="1500" b="0" lang="hi-IN">
                <a:solidFill>
                  <a:srgbClr val="15302E"/>
                </a:solidFill>
                <a:latin typeface="Nirmala UI"/>
                <a:cs typeface="Nirmala UI"/>
              </a:rPr>
              <a:t>सिर्फ़ अरबी, और आप समझ रहे हैं</a:t>
            </a:r>
          </a:p>
        </p:txBody>
      </p:sp>
      <p:sp>
        <p:nvSpPr>
          <p:cNvPr id="14" name="Phone shadow"/>
          <p:cNvSpPr/>
          <p:nvPr/>
        </p:nvSpPr>
        <p:spPr>
          <a:xfrm>
            <a:off x="8889339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none" descr="सिर्फ़ अरबी, और आप समझ रहे है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475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6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67665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एक नज़र में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पूरा क़ुरआन, लफ़्ज़-ब-लफ़्ज़</a:t>
            </a:r>
          </a:p>
        </p:txBody>
      </p:sp>
      <p:sp>
        <p:nvSpPr>
          <p:cNvPr id="5" name="Stat 1"/>
          <p:cNvSpPr/>
          <p:nvPr/>
        </p:nvSpPr>
        <p:spPr>
          <a:xfrm>
            <a:off x="64008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number"/>
          <p:cNvSpPr txBox="1"/>
          <p:nvPr/>
        </p:nvSpPr>
        <p:spPr>
          <a:xfrm>
            <a:off x="914400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B8740F"/>
                </a:solidFill>
                <a:latin typeface="Nirmala UI"/>
                <a:cs typeface="Nirmala UI"/>
              </a:rPr>
              <a:t>114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914400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hi-IN">
                <a:solidFill>
                  <a:srgbClr val="15302E"/>
                </a:solidFill>
                <a:latin typeface="Nirmala UI"/>
                <a:cs typeface="Nirmala UI"/>
              </a:rPr>
              <a:t>सूरतें: पूरा क़ुरआन, अल-फ़ातिहा से अन-नास तक</a:t>
            </a:r>
          </a:p>
        </p:txBody>
      </p:sp>
      <p:sp>
        <p:nvSpPr>
          <p:cNvPr id="8" name="Stat 2"/>
          <p:cNvSpPr/>
          <p:nvPr/>
        </p:nvSpPr>
        <p:spPr>
          <a:xfrm>
            <a:off x="4526280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 number"/>
          <p:cNvSpPr txBox="1"/>
          <p:nvPr/>
        </p:nvSpPr>
        <p:spPr>
          <a:xfrm>
            <a:off x="4800600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B8740F"/>
                </a:solidFill>
                <a:latin typeface="Nirmala UI"/>
                <a:cs typeface="Nirmala UI"/>
              </a:rPr>
              <a:t>77,429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4800600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hi-IN">
                <a:solidFill>
                  <a:srgbClr val="15302E"/>
                </a:solidFill>
                <a:latin typeface="Nirmala UI"/>
                <a:cs typeface="Nirmala UI"/>
              </a:rPr>
              <a:t>लफ़्ज़, हर एक अपने मतलब के साथ</a:t>
            </a:r>
          </a:p>
        </p:txBody>
      </p:sp>
      <p:sp>
        <p:nvSpPr>
          <p:cNvPr id="11" name="Stat 3"/>
          <p:cNvSpPr/>
          <p:nvPr/>
        </p:nvSpPr>
        <p:spPr>
          <a:xfrm>
            <a:off x="640080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 number"/>
          <p:cNvSpPr txBox="1"/>
          <p:nvPr/>
        </p:nvSpPr>
        <p:spPr>
          <a:xfrm>
            <a:off x="914400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1F6F62"/>
                </a:solidFill>
                <a:latin typeface="Nirmala UI"/>
                <a:cs typeface="Nirmala UI"/>
              </a:rPr>
              <a:t>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914400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hi-IN">
                <a:solidFill>
                  <a:srgbClr val="15302E"/>
                </a:solidFill>
                <a:latin typeface="Nirmala UI"/>
                <a:cs typeface="Nirmala UI"/>
              </a:rPr>
              <a:t>क्लासिकी अरबी लुग़ात, हर रूट के मतलब के लिए</a:t>
            </a:r>
          </a:p>
        </p:txBody>
      </p:sp>
      <p:sp>
        <p:nvSpPr>
          <p:cNvPr id="14" name="Stat 4"/>
          <p:cNvSpPr/>
          <p:nvPr/>
        </p:nvSpPr>
        <p:spPr>
          <a:xfrm>
            <a:off x="4526280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number"/>
          <p:cNvSpPr txBox="1"/>
          <p:nvPr/>
        </p:nvSpPr>
        <p:spPr>
          <a:xfrm>
            <a:off x="4800600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1F6F62"/>
                </a:solidFill>
                <a:latin typeface="Nirmala UI"/>
                <a:cs typeface="Nirmala UI"/>
              </a:rPr>
              <a:t>3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4800600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lang="hi-IN">
                <a:solidFill>
                  <a:srgbClr val="15302E"/>
                </a:solidFill>
                <a:latin typeface="Nirmala UI"/>
                <a:cs typeface="Nirmala UI"/>
              </a:rPr>
              <a:t>भाषाएँ: </a:t>
            </a:r>
            <a:r>
              <a:rPr sz="1450" b="0" lang="en-US">
                <a:solidFill>
                  <a:srgbClr val="15302E"/>
                </a:solidFill>
                <a:latin typeface="Nirmala UI"/>
                <a:cs typeface="Nirmala UI"/>
              </a:rPr>
              <a:t>English, </a:t>
            </a:r>
            <a:r>
              <a:rPr sz="1450" b="0" lang="ar-SA">
                <a:solidFill>
                  <a:srgbClr val="15302E"/>
                </a:solidFill>
                <a:latin typeface="Nirmala UI"/>
                <a:cs typeface="Arial"/>
              </a:rPr>
              <a:t>اردو‎ </a:t>
            </a:r>
            <a:r>
              <a:rPr sz="1450" b="0" lang="hi-IN">
                <a:solidFill>
                  <a:srgbClr val="15302E"/>
                </a:solidFill>
                <a:latin typeface="Nirmala UI"/>
                <a:cs typeface="Nirmala UI"/>
              </a:rPr>
              <a:t>और हिंदी</a:t>
            </a:r>
          </a:p>
        </p:txBody>
      </p:sp>
      <p:sp>
        <p:nvSpPr>
          <p:cNvPr id="17" name="Note"/>
          <p:cNvSpPr txBox="1"/>
          <p:nvPr/>
        </p:nvSpPr>
        <p:spPr>
          <a:xfrm>
            <a:off x="640080" y="605332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मुफ़्त, बिना किसी विज्ञापन या साइन-अप के।</a:t>
            </a:r>
          </a:p>
        </p:txBody>
      </p:sp>
      <p:sp>
        <p:nvSpPr>
          <p:cNvPr id="18" name="Phone shadow"/>
          <p:cNvSpPr/>
          <p:nvPr/>
        </p:nvSpPr>
        <p:spPr>
          <a:xfrm>
            <a:off x="8787384" y="576072"/>
            <a:ext cx="2743200" cy="543012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creenshot progress" descr="pro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02920"/>
            <a:ext cx="2743200" cy="543012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2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तरीक़ा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रोज़ की एक आसान आदत</a:t>
            </a:r>
          </a:p>
        </p:txBody>
      </p:sp>
      <p:sp>
        <p:nvSpPr>
          <p:cNvPr id="5" name="Step 1"/>
          <p:cNvSpPr/>
          <p:nvPr/>
        </p:nvSpPr>
        <p:spPr>
          <a:xfrm>
            <a:off x="640080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number"/>
          <p:cNvSpPr/>
          <p:nvPr/>
        </p:nvSpPr>
        <p:spPr>
          <a:xfrm>
            <a:off x="868680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1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868680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रोज़ 3, 5 या 10 आयतें लें।</a:t>
            </a:r>
          </a:p>
        </p:txBody>
      </p:sp>
      <p:sp>
        <p:nvSpPr>
          <p:cNvPr id="8" name="Step 2"/>
          <p:cNvSpPr/>
          <p:nvPr/>
        </p:nvSpPr>
        <p:spPr>
          <a:xfrm>
            <a:off x="4315968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number"/>
          <p:cNvSpPr/>
          <p:nvPr/>
        </p:nvSpPr>
        <p:spPr>
          <a:xfrm>
            <a:off x="4544568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2</a:t>
            </a:r>
          </a:p>
        </p:txBody>
      </p:sp>
      <p:sp>
        <p:nvSpPr>
          <p:cNvPr id="10" name="Step text"/>
          <p:cNvSpPr txBox="1"/>
          <p:nvPr/>
        </p:nvSpPr>
        <p:spPr>
          <a:xfrm>
            <a:off x="4544568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ऊँची आवाज़ में पढ़ें, फिर उसका मतलब।</a:t>
            </a:r>
          </a:p>
        </p:txBody>
      </p:sp>
      <p:sp>
        <p:nvSpPr>
          <p:cNvPr id="11" name="Step 3"/>
          <p:cNvSpPr/>
          <p:nvPr/>
        </p:nvSpPr>
        <p:spPr>
          <a:xfrm>
            <a:off x="7991855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 number"/>
          <p:cNvSpPr/>
          <p:nvPr/>
        </p:nvSpPr>
        <p:spPr>
          <a:xfrm>
            <a:off x="8220455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3</a:t>
            </a:r>
          </a:p>
        </p:txBody>
      </p:sp>
      <p:sp>
        <p:nvSpPr>
          <p:cNvPr id="13" name="Step text"/>
          <p:cNvSpPr txBox="1"/>
          <p:nvPr/>
        </p:nvSpPr>
        <p:spPr>
          <a:xfrm>
            <a:off x="8220455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इस हिस्से को 7 बार दोहराएँ।</a:t>
            </a:r>
          </a:p>
        </p:txBody>
      </p:sp>
      <p:sp>
        <p:nvSpPr>
          <p:cNvPr id="14" name="Step 4"/>
          <p:cNvSpPr/>
          <p:nvPr/>
        </p:nvSpPr>
        <p:spPr>
          <a:xfrm>
            <a:off x="640080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number"/>
          <p:cNvSpPr/>
          <p:nvPr/>
        </p:nvSpPr>
        <p:spPr>
          <a:xfrm>
            <a:off x="868680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4</a:t>
            </a:r>
          </a:p>
        </p:txBody>
      </p:sp>
      <p:sp>
        <p:nvSpPr>
          <p:cNvPr id="16" name="Step text"/>
          <p:cNvSpPr txBox="1"/>
          <p:nvPr/>
        </p:nvSpPr>
        <p:spPr>
          <a:xfrm>
            <a:off x="868680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मतलब छिपाएँ (</a:t>
            </a:r>
            <a:r>
              <a:rPr sz="1700" b="0" lang="en-US">
                <a:solidFill>
                  <a:srgbClr val="15302E"/>
                </a:solidFill>
                <a:latin typeface="Nirmala UI"/>
                <a:cs typeface="Nirmala UI"/>
              </a:rPr>
              <a:t>None) </a:t>
            </a: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और फिर से पढ़ें।</a:t>
            </a:r>
          </a:p>
        </p:txBody>
      </p:sp>
      <p:sp>
        <p:nvSpPr>
          <p:cNvPr id="17" name="Step 5"/>
          <p:cNvSpPr/>
          <p:nvPr/>
        </p:nvSpPr>
        <p:spPr>
          <a:xfrm>
            <a:off x="4315968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number"/>
          <p:cNvSpPr/>
          <p:nvPr/>
        </p:nvSpPr>
        <p:spPr>
          <a:xfrm>
            <a:off x="4544568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5</a:t>
            </a:r>
          </a:p>
        </p:txBody>
      </p:sp>
      <p:sp>
        <p:nvSpPr>
          <p:cNvPr id="19" name="Step text"/>
          <p:cNvSpPr txBox="1"/>
          <p:nvPr/>
        </p:nvSpPr>
        <p:spPr>
          <a:xfrm>
            <a:off x="4544568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एक छोटे क्विज़ से अभ्यास करें।</a:t>
            </a:r>
          </a:p>
        </p:txBody>
      </p:sp>
      <p:sp>
        <p:nvSpPr>
          <p:cNvPr id="20" name="Step 6"/>
          <p:cNvSpPr/>
          <p:nvPr/>
        </p:nvSpPr>
        <p:spPr>
          <a:xfrm>
            <a:off x="7991855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number"/>
          <p:cNvSpPr/>
          <p:nvPr/>
        </p:nvSpPr>
        <p:spPr>
          <a:xfrm>
            <a:off x="8220455" y="4416552"/>
            <a:ext cx="563270" cy="502920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Nirmala UI"/>
                <a:cs typeface="Nirmala UI"/>
              </a:rPr>
              <a:t>6</a:t>
            </a:r>
          </a:p>
        </p:txBody>
      </p:sp>
      <p:sp>
        <p:nvSpPr>
          <p:cNvPr id="22" name="Step text"/>
          <p:cNvSpPr txBox="1"/>
          <p:nvPr/>
        </p:nvSpPr>
        <p:spPr>
          <a:xfrm>
            <a:off x="8220455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hi-IN">
                <a:solidFill>
                  <a:srgbClr val="15302E"/>
                </a:solidFill>
                <a:latin typeface="Nirmala UI"/>
                <a:cs typeface="Nirmala UI"/>
              </a:rPr>
              <a:t>बिना तर्जुमे वाला मुसहफ़ हाथ में लेकर पढ़ें।</a:t>
            </a:r>
          </a:p>
        </p:txBody>
      </p:sp>
      <p:sp>
        <p:nvSpPr>
          <p:cNvPr id="23" name="Closing line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hi-IN">
                <a:solidFill>
                  <a:srgbClr val="1F6F62"/>
                </a:solidFill>
                <a:latin typeface="Nirmala UI"/>
                <a:cs typeface="Nirmala UI"/>
              </a:rPr>
              <a:t>इसी तरह पूरी सूरह, और फिर पूरा क़ुरआन मुकम्मल करें।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रीडर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के नीचे उसका मतलब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कोई भी सूरह लफ़्ज़-ब-लफ़्ज़ पढ़ें: अंग्रेज़ी, उर्दू या हिंदी में।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एक या दो भाषाएँ, और नीचे आयत का पूरा तर्जुमा।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जो लफ़्ज़ सीख लें, उसका मतलब हल्का हो जाता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ख़ुद को परखने के लिए </a:t>
            </a:r>
            <a:r>
              <a:rPr sz="1600" b="0" lang="en-US">
                <a:solidFill>
                  <a:srgbClr val="15302E"/>
                </a:solidFill>
                <a:latin typeface="Nirmala UI"/>
                <a:cs typeface="Nirmala UI"/>
              </a:rPr>
              <a:t>None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दबाएँ, ज़रूरत हो तो लफ़्ज़ पर टैप करें।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r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ade" descr="f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05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वर्ड कार्ड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खुलकर सामने आता है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लफ़्ज़ पर टैप करें और देखें कि वह कैसे बना है और उसके रूट का मतलब क्या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उसके हिस्से रंगों में: </a:t>
            </a:r>
            <a:r>
              <a:rPr sz="1600" b="0" lang="ar-SA">
                <a:solidFill>
                  <a:srgbClr val="15302E"/>
                </a:solidFill>
                <a:latin typeface="Nirmala UI"/>
                <a:cs typeface="Arial"/>
              </a:rPr>
              <a:t>وَ،‎ فَ،‎ ٱل‎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और आख़िर के टुकड़े।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रूट का मतलब अरबी के 7 क्लासिकी लुग़ात से।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लफ़्ज़ की शक्लें: फ़ेल कैसे बदलता है, क़ुरआन में आई शक्लें अलग से।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orms" descr="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06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तलाश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पूरा क़ुरआन आपकी उँगलियों पर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कोई भी आयत, या हर वह जगह जहाँ कोई लफ़्ज़ या उसका रूट आया हो।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2:255 लिखें और सीधे आयतुल-कुर्सी पर पहुँचें।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ar-SA">
                <a:solidFill>
                  <a:srgbClr val="15302E"/>
                </a:solidFill>
                <a:latin typeface="Nirmala UI"/>
                <a:cs typeface="Arial"/>
              </a:rPr>
              <a:t>رحمة‎: 313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आयतों में 339 बार, हर शक्ल और हिज्जे के साथ।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कोई भी नतीजा उसकी सूरह में या मुसहफ़ के पन्ने पर खोलें।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search" descr="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esults" descr="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07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तरक़्क़ी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देखें आप कितना आगे आ गए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आयतों का अभ्यास करें और क़ुरआन में अपना हिस्सा बढ़ता देखें।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का मतलब चुनें। ग़लत जवाब आख़िर में फिर आते हैं।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3 सही जवाब, और लफ़्ज़ आपका, क़ुरआन में जहाँ भी आए।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हर सूरह की, और पूरे क़ुरआन की तरक़्क़ी।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quiz" descr="qui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progress" descr="progr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08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611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खेल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सीखना जो खेल जैसा लगे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343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तीन क्विज़ और शहद का मर्तबान आपको बार-बार वापस लाते हैं।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शहद का छत्ता: आयत के लफ़्ज़ों का जवाब देकर छत्ता पार करें।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Nirmala UI"/>
                <a:cs typeface="Nirmala UI"/>
              </a:rPr>
              <a:t>Root challenge: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हर लफ़्ज़ का रूट और उसका गहरा मतलब ढूँढें।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Nirmala UI"/>
                <a:cs typeface="Nirmala UI"/>
              </a:rPr>
              <a:t>Form Switch: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फ़ेल या इस्म को दूसरी शक्ल में बदलें।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5312664" y="94183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oney" descr="hon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6868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7534656" y="57607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ootq" descr="root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50292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Phone shadow"/>
          <p:cNvSpPr/>
          <p:nvPr/>
        </p:nvSpPr>
        <p:spPr>
          <a:xfrm>
            <a:off x="9756648" y="130759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ormq" descr="form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23444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09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क्लास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क्लासरूम के लिए बनाया गया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क्लास की स्क्रीन के लिए टीम गेम, और हर क्लास की अलग प्रोफ़ाइल।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दो टीमें 37 ख़ानों के छत्ते पर मुक़ाबला करती हैं और सही जवाब से ख़ाने छीनती हैं।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हर ख़ाना अपने लफ़्ज़ का पहला अक्षर इशारे के तौर पर दिखाता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सबक़ के बाद क्लास की प्रगति साफ़ करें।</a:t>
            </a:r>
          </a:p>
        </p:txBody>
      </p:sp>
      <p:sp>
        <p:nvSpPr>
          <p:cNvPr id="6" name="Window shadow"/>
          <p:cNvSpPr/>
          <p:nvPr/>
        </p:nvSpPr>
        <p:spPr>
          <a:xfrm>
            <a:off x="5504688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5440680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5568696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5733288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5897880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teams" descr="desktea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9701784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teams" descr="te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10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मुसहफ़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असली मुसहफ़ पढ़ें, रंगों के साथ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इंडो-पाक 15 सतरों वाला हिफ़्ज़ का मुसहफ़, तजवीद के रंगों के साथ।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610 पन्ने, और हर पन्ना आयत पर ख़त्म होता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तजवीद के हर रंग की रहनुमाई, मिसालों के साथ।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पन्ने पर किसी भी लफ़्ज़ पर टैप करें और उसका मतलब देखें।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447391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mushaf" descr="mush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447391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tajweed" descr="tajw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611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शाने नुज़ूल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आयत के पीछे का वाक़िआ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343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en-US">
                <a:solidFill>
                  <a:srgbClr val="1F6F62"/>
                </a:solidFill>
                <a:latin typeface="Nirmala UI"/>
                <a:cs typeface="Nirmala UI"/>
              </a:rPr>
              <a:t>📜 Why revealed </a:t>
            </a: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दबाएँ और पढ़ें कि आयत किस मौक़े पर नाज़िल हुई।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सिर्फ़ सहीह रिवायतें, इमाम सुयूती की लुबाबुन-नुक़ूल से।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हर रिवायत का दर्जा साथ लिखा है, जैसे सहीह: बुख़ारी और मुस्लिम।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हिंदी, उर्दू या अंग्रेज़ी में पढ़ें। अरबी मतन एक टैप पर।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5312664" y="94183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why" descr="wh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6868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7534656" y="57607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whypanel" descr="why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50292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Phone shadow"/>
          <p:cNvSpPr/>
          <p:nvPr/>
        </p:nvSpPr>
        <p:spPr>
          <a:xfrm>
            <a:off x="9756648" y="130759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whyar" descr="why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23444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हिंदी अक्षर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अरबी अक्षर अभी नहीं आते? फिर भी शुरू करें।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हर लफ़्ज़ हिंदी अक्षरों में दिखाया जा सकता है, अकेला या अरबी के नीचे।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ar-SA">
                <a:solidFill>
                  <a:srgbClr val="15302E"/>
                </a:solidFill>
                <a:latin typeface="Nirmala UI"/>
                <a:cs typeface="Arial"/>
              </a:rPr>
              <a:t>ٱلَّذِينَ‎ </a:t>
            </a: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को अल्लज़ी-न लिखा जाता है। "-" उस छोटे "अ" को दिखाता है जो पढ़ा जाता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आयत का आख़िरी लफ़्ज़ वक़्फ़ के साथ लिखा जाता है: लिल्मुत्तक़ीन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क्विज़ भी हिंदी अक्षरों में आ जाते हैं।</a:t>
            </a:r>
          </a:p>
        </p:txBody>
      </p:sp>
      <p:sp>
        <p:nvSpPr>
          <p:cNvPr id="6" name="Phone shadow"/>
          <p:cNvSpPr/>
          <p:nvPr/>
        </p:nvSpPr>
        <p:spPr>
          <a:xfrm>
            <a:off x="6089903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indi" descr="hind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9015984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hquiz" descr="hqui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19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हर जगह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फ़ोन, टैबलेट या कंप्यूटर पर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40080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lang="hi-IN">
                <a:solidFill>
                  <a:srgbClr val="1F6F62"/>
                </a:solidFill>
                <a:latin typeface="Nirmala UI"/>
                <a:cs typeface="Nirmala UI"/>
              </a:rPr>
              <a:t>एक बार इंस्टॉल करें और कहीं भी पढ़ें, बिना इंटरनेट के भी।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पहली बार के बाद ऑफ़लाइन चलता है।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लाइट या डार्क, फ़ोन की सेटिंग जो भी हो।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hi-IN">
                <a:solidFill>
                  <a:srgbClr val="15302E"/>
                </a:solidFill>
                <a:latin typeface="Nirmala UI"/>
                <a:cs typeface="Nirmala UI"/>
              </a:rPr>
              <a:t>कंप्यूटर पर वर्ड कार्ड पन्ने के साथ खुलता है।</a:t>
            </a:r>
          </a:p>
        </p:txBody>
      </p:sp>
      <p:sp>
        <p:nvSpPr>
          <p:cNvPr id="6" name="Window shadow"/>
          <p:cNvSpPr/>
          <p:nvPr/>
        </p:nvSpPr>
        <p:spPr>
          <a:xfrm>
            <a:off x="5504688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5440680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5568696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5733288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5897880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" descr="de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9701784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dark" descr="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B8740F"/>
                </a:solidFill>
                <a:latin typeface="Nirmala UI"/>
                <a:cs typeface="Nirmala UI"/>
              </a:rPr>
              <a:t>किसके लिए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15302E"/>
                </a:solidFill>
                <a:latin typeface="Nirmala UI"/>
                <a:cs typeface="Nirmala UI"/>
              </a:rPr>
              <a:t>क़ुरआन से मोहब्बत करने वाले हर शख़्स के लिए</a:t>
            </a:r>
          </a:p>
        </p:txBody>
      </p:sp>
      <p:sp>
        <p:nvSpPr>
          <p:cNvPr id="5" name="Card 1"/>
          <p:cNvSpPr/>
          <p:nvPr/>
        </p:nvSpPr>
        <p:spPr>
          <a:xfrm>
            <a:off x="640080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mark"/>
          <p:cNvSpPr/>
          <p:nvPr/>
        </p:nvSpPr>
        <p:spPr>
          <a:xfrm>
            <a:off x="868680" y="265176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itle"/>
          <p:cNvSpPr txBox="1"/>
          <p:nvPr/>
        </p:nvSpPr>
        <p:spPr>
          <a:xfrm>
            <a:off x="1417319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तालिब-ए-इल्म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868680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जो अरबी अक्षर पढ़ सकते हैं और मतलब समझना चाहते हैं।</a:t>
            </a:r>
          </a:p>
        </p:txBody>
      </p:sp>
      <p:sp>
        <p:nvSpPr>
          <p:cNvPr id="9" name="Card 2"/>
          <p:cNvSpPr/>
          <p:nvPr/>
        </p:nvSpPr>
        <p:spPr>
          <a:xfrm>
            <a:off x="4315968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mark"/>
          <p:cNvSpPr/>
          <p:nvPr/>
        </p:nvSpPr>
        <p:spPr>
          <a:xfrm>
            <a:off x="4544568" y="265176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title"/>
          <p:cNvSpPr txBox="1"/>
          <p:nvPr/>
        </p:nvSpPr>
        <p:spPr>
          <a:xfrm>
            <a:off x="5093207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हाफ़िज़</a:t>
            </a:r>
          </a:p>
        </p:txBody>
      </p:sp>
      <p:sp>
        <p:nvSpPr>
          <p:cNvPr id="12" name="Card text"/>
          <p:cNvSpPr txBox="1"/>
          <p:nvPr/>
        </p:nvSpPr>
        <p:spPr>
          <a:xfrm>
            <a:off x="4544568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जो याद करते हैं उसे समझें, उसी 15 सतरों वाले पन्ने पर।</a:t>
            </a:r>
          </a:p>
        </p:txBody>
      </p:sp>
      <p:sp>
        <p:nvSpPr>
          <p:cNvPr id="13" name="Card 3"/>
          <p:cNvSpPr/>
          <p:nvPr/>
        </p:nvSpPr>
        <p:spPr>
          <a:xfrm>
            <a:off x="7991855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mark"/>
          <p:cNvSpPr/>
          <p:nvPr/>
        </p:nvSpPr>
        <p:spPr>
          <a:xfrm>
            <a:off x="8220455" y="2651760"/>
            <a:ext cx="430133" cy="384048"/>
          </a:xfrm>
          <a:prstGeom prst="hexagon">
            <a:avLst/>
          </a:prstGeom>
          <a:solidFill>
            <a:srgbClr val="B8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title"/>
          <p:cNvSpPr txBox="1"/>
          <p:nvPr/>
        </p:nvSpPr>
        <p:spPr>
          <a:xfrm>
            <a:off x="8769095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उस्ताद</a:t>
            </a:r>
          </a:p>
        </p:txBody>
      </p:sp>
      <p:sp>
        <p:nvSpPr>
          <p:cNvPr id="16" name="Card text"/>
          <p:cNvSpPr txBox="1"/>
          <p:nvPr/>
        </p:nvSpPr>
        <p:spPr>
          <a:xfrm>
            <a:off x="8220455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क्लासरूम के लिए टीम गेम और क्लास प्रोफ़ाइल।</a:t>
            </a:r>
          </a:p>
        </p:txBody>
      </p:sp>
      <p:sp>
        <p:nvSpPr>
          <p:cNvPr id="17" name="Card 4"/>
          <p:cNvSpPr/>
          <p:nvPr/>
        </p:nvSpPr>
        <p:spPr>
          <a:xfrm>
            <a:off x="640080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mark"/>
          <p:cNvSpPr/>
          <p:nvPr/>
        </p:nvSpPr>
        <p:spPr>
          <a:xfrm>
            <a:off x="868680" y="4572000"/>
            <a:ext cx="430133" cy="384048"/>
          </a:xfrm>
          <a:prstGeom prst="hexagon">
            <a:avLst/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title"/>
          <p:cNvSpPr txBox="1"/>
          <p:nvPr/>
        </p:nvSpPr>
        <p:spPr>
          <a:xfrm>
            <a:off x="1417319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घर वाले</a:t>
            </a:r>
          </a:p>
        </p:txBody>
      </p:sp>
      <p:sp>
        <p:nvSpPr>
          <p:cNvPr id="20" name="Card text"/>
          <p:cNvSpPr txBox="1"/>
          <p:nvPr/>
        </p:nvSpPr>
        <p:spPr>
          <a:xfrm>
            <a:off x="868680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मिलकर सीखें, रोज़ चंद आयतें।</a:t>
            </a:r>
          </a:p>
        </p:txBody>
      </p:sp>
      <p:sp>
        <p:nvSpPr>
          <p:cNvPr id="21" name="Card 5"/>
          <p:cNvSpPr/>
          <p:nvPr/>
        </p:nvSpPr>
        <p:spPr>
          <a:xfrm>
            <a:off x="4315968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mark"/>
          <p:cNvSpPr/>
          <p:nvPr/>
        </p:nvSpPr>
        <p:spPr>
          <a:xfrm>
            <a:off x="4544568" y="457200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title"/>
          <p:cNvSpPr txBox="1"/>
          <p:nvPr/>
        </p:nvSpPr>
        <p:spPr>
          <a:xfrm>
            <a:off x="5093207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नए पढ़ने वाले</a:t>
            </a:r>
          </a:p>
        </p:txBody>
      </p:sp>
      <p:sp>
        <p:nvSpPr>
          <p:cNvPr id="24" name="Card text"/>
          <p:cNvSpPr txBox="1"/>
          <p:nvPr/>
        </p:nvSpPr>
        <p:spPr>
          <a:xfrm>
            <a:off x="4544568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अरबी लिपि से पहले हिंदी अक्षरों में शुरू करें।</a:t>
            </a:r>
          </a:p>
        </p:txBody>
      </p:sp>
      <p:sp>
        <p:nvSpPr>
          <p:cNvPr id="25" name="Card 6"/>
          <p:cNvSpPr/>
          <p:nvPr/>
        </p:nvSpPr>
        <p:spPr>
          <a:xfrm>
            <a:off x="7991855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mark"/>
          <p:cNvSpPr/>
          <p:nvPr/>
        </p:nvSpPr>
        <p:spPr>
          <a:xfrm>
            <a:off x="8220455" y="457200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title"/>
          <p:cNvSpPr txBox="1"/>
          <p:nvPr/>
        </p:nvSpPr>
        <p:spPr>
          <a:xfrm>
            <a:off x="8769095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lang="hi-IN">
                <a:solidFill>
                  <a:srgbClr val="15302E"/>
                </a:solidFill>
                <a:latin typeface="Nirmala UI"/>
                <a:cs typeface="Nirmala UI"/>
              </a:rPr>
              <a:t>सबके लिए मुफ़्त</a:t>
            </a:r>
          </a:p>
        </p:txBody>
      </p:sp>
      <p:sp>
        <p:nvSpPr>
          <p:cNvPr id="28" name="Card text"/>
          <p:cNvSpPr txBox="1"/>
          <p:nvPr/>
        </p:nvSpPr>
        <p:spPr>
          <a:xfrm>
            <a:off x="8220455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0" lang="hi-IN">
                <a:solidFill>
                  <a:srgbClr val="5D716E"/>
                </a:solidFill>
                <a:latin typeface="Nirmala UI"/>
                <a:cs typeface="Nirmala UI"/>
              </a:rPr>
              <a:t>कोई विज्ञापन, साइन-अप या ट्रैकिंग नहीं। ग़ैर-तिजारती।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5D716E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5D716E"/>
                </a:solidFill>
                <a:latin typeface="Nirmala UI"/>
                <a:cs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640080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Nirmala UI"/>
                <a:cs typeface="Nirmala UI"/>
              </a:rPr>
              <a:t>15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325880" y="566928"/>
            <a:ext cx="6217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lang="hi-IN">
                <a:solidFill>
                  <a:srgbClr val="E9A227"/>
                </a:solidFill>
                <a:latin typeface="Nirmala UI"/>
                <a:cs typeface="Nirmala UI"/>
              </a:rPr>
              <a:t>आज ही शुरू करें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1207008"/>
            <a:ext cx="6949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lang="hi-IN">
                <a:solidFill>
                  <a:srgbClr val="FFFFFF"/>
                </a:solidFill>
                <a:latin typeface="Nirmala UI"/>
                <a:cs typeface="Nirmala UI"/>
              </a:rPr>
              <a:t>खोलें, इंस्टॉल करें, शेयर करें</a:t>
            </a:r>
          </a:p>
        </p:txBody>
      </p:sp>
      <p:sp>
        <p:nvSpPr>
          <p:cNvPr id="5" name="Link"/>
          <p:cNvSpPr/>
          <p:nvPr/>
        </p:nvSpPr>
        <p:spPr>
          <a:xfrm>
            <a:off x="640080" y="224028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Nirmala UI"/>
                <a:cs typeface="Nirmala UI"/>
              </a:rPr>
              <a:t>https://marshadkc.github.io/quranreader</a:t>
            </a:r>
          </a:p>
        </p:txBody>
      </p:sp>
      <p:sp>
        <p:nvSpPr>
          <p:cNvPr id="6" name="Step label"/>
          <p:cNvSpPr txBox="1"/>
          <p:nvPr/>
        </p:nvSpPr>
        <p:spPr>
          <a:xfrm>
            <a:off x="640080" y="30175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9A227"/>
                </a:solidFill>
                <a:latin typeface="Nirmala UI"/>
                <a:cs typeface="Nirmala UI"/>
              </a:rPr>
              <a:t>Android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2148840" y="30175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लिंक 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Chrome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में खोलें, ⋮ दबाएँ और "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Add to Home screen"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चुनें।</a:t>
            </a:r>
          </a:p>
        </p:txBody>
      </p:sp>
      <p:sp>
        <p:nvSpPr>
          <p:cNvPr id="8" name="Step label"/>
          <p:cNvSpPr txBox="1"/>
          <p:nvPr/>
        </p:nvSpPr>
        <p:spPr>
          <a:xfrm>
            <a:off x="640080" y="373075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9A227"/>
                </a:solidFill>
                <a:latin typeface="Nirmala UI"/>
                <a:cs typeface="Nirmala UI"/>
              </a:rPr>
              <a:t>iPhone</a:t>
            </a:r>
          </a:p>
        </p:txBody>
      </p:sp>
      <p:sp>
        <p:nvSpPr>
          <p:cNvPr id="9" name="Step text"/>
          <p:cNvSpPr txBox="1"/>
          <p:nvPr/>
        </p:nvSpPr>
        <p:spPr>
          <a:xfrm>
            <a:off x="2148840" y="373075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Safari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में खोलें, 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Share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दबाएँ और "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Add to Home Screen"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चुनें।</a:t>
            </a:r>
          </a:p>
        </p:txBody>
      </p:sp>
      <p:sp>
        <p:nvSpPr>
          <p:cNvPr id="10" name="Step label"/>
          <p:cNvSpPr txBox="1"/>
          <p:nvPr/>
        </p:nvSpPr>
        <p:spPr>
          <a:xfrm>
            <a:off x="640080" y="444398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hi-IN">
                <a:solidFill>
                  <a:srgbClr val="E9A227"/>
                </a:solidFill>
                <a:latin typeface="Nirmala UI"/>
                <a:cs typeface="Nirmala UI"/>
              </a:rPr>
              <a:t>शेयर</a:t>
            </a:r>
          </a:p>
        </p:txBody>
      </p:sp>
      <p:sp>
        <p:nvSpPr>
          <p:cNvPr id="11" name="Step text"/>
          <p:cNvSpPr txBox="1"/>
          <p:nvPr/>
        </p:nvSpPr>
        <p:spPr>
          <a:xfrm>
            <a:off x="2148840" y="44439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होम पेज पर "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Share this app"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से </a:t>
            </a:r>
            <a:r>
              <a:rPr sz="1600" b="0" lang="en-US">
                <a:solidFill>
                  <a:srgbClr val="FFFFFF"/>
                </a:solidFill>
                <a:latin typeface="Nirmala UI"/>
                <a:cs typeface="Nirmala UI"/>
              </a:rPr>
              <a:t>WhatsApp </a:t>
            </a:r>
            <a:r>
              <a:rPr sz="1600" b="0" lang="hi-IN">
                <a:solidFill>
                  <a:srgbClr val="FFFFFF"/>
                </a:solidFill>
                <a:latin typeface="Nirmala UI"/>
                <a:cs typeface="Nirmala UI"/>
              </a:rPr>
              <a:t>पर भेजें।</a:t>
            </a:r>
          </a:p>
        </p:txBody>
      </p:sp>
      <p:sp>
        <p:nvSpPr>
          <p:cNvPr id="12" name="Credits"/>
          <p:cNvSpPr txBox="1"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hi-IN">
                <a:solidFill>
                  <a:srgbClr val="E9A227"/>
                </a:solidFill>
                <a:latin typeface="Nirmala UI"/>
                <a:cs typeface="Nirmala UI"/>
              </a:rPr>
              <a:t>हवाले</a:t>
            </a:r>
          </a:p>
          <a:p>
            <a:pPr algn="l">
              <a:lnSpc>
                <a:spcPct val="100000"/>
              </a:lnSpc>
            </a:pP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अरबी मत्न, लफ़्ज़ के हिस्से और रूट: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Quranic Arabic Corpus (quran-morphology)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। लफ़्ज़ों के मतलब: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Quran.com; 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उर्दू और हिंदी: अल-हुदा इंटरनेशनल। आयतों के तर्जुमे: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Saheeh International, 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फ़तेह मुहम्मद जालंधरी, अज़ीज़ुल हक़ अल-उमरी। मुसहफ़ की तरतीब: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QUL (Tarteel)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। रूट के मतलब: क्लासिकी लुग़ात,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tafsir.app 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से। इंडो-पाक फ़ॉन्ट: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QuranWBW</a:t>
            </a:r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।</a:t>
            </a:r>
          </a:p>
        </p:txBody>
      </p:sp>
      <p:sp>
        <p:nvSpPr>
          <p:cNvPr id="13" name="Shadow"/>
          <p:cNvSpPr/>
          <p:nvPr/>
        </p:nvSpPr>
        <p:spPr>
          <a:xfrm>
            <a:off x="7735824" y="2313432"/>
            <a:ext cx="3931920" cy="1769364"/>
          </a:xfrm>
          <a:prstGeom prst="roundRect">
            <a:avLst>
              <a:gd name="adj" fmla="val 8000"/>
            </a:avLst>
          </a:prstGeom>
          <a:solidFill>
            <a:srgbClr val="0A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hare card" descr="The Share this app card on the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40280"/>
            <a:ext cx="3931920" cy="1769364"/>
          </a:xfrm>
          <a:prstGeom prst="roundRect">
            <a:avLst/>
          </a:prstGeom>
          <a:ln w="25400">
            <a:solidFill>
              <a:srgbClr val="E9A227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640080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hi-IN">
                <a:solidFill>
                  <a:srgbClr val="9FCFC3"/>
                </a:solidFill>
                <a:latin typeface="Nirmala UI"/>
                <a:cs typeface="Nirmala UI"/>
              </a:rPr>
              <a:t>मुफ़्त · ग़ैर-तिजारती · </a:t>
            </a:r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marshadkc.github.io/quranreader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0820095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0" lang="en-US">
                <a:solidFill>
                  <a:srgbClr val="9FCFC3"/>
                </a:solidFill>
                <a:latin typeface="Nirmala UI"/>
                <a:cs typeface="Nirmala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 Word Reader · क़ुरआन को उसके अपने लफ़्ज़ों में समझें</dc:title>
  <dc:subject>Features</dc:subject>
  <dc:creator>Quran Word Reader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